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23" r:id="rId3"/>
    <p:sldId id="324" r:id="rId4"/>
    <p:sldId id="325" r:id="rId5"/>
    <p:sldId id="328" r:id="rId6"/>
    <p:sldId id="327" r:id="rId7"/>
    <p:sldId id="330" r:id="rId8"/>
    <p:sldId id="329" r:id="rId9"/>
    <p:sldId id="326" r:id="rId10"/>
    <p:sldId id="332" r:id="rId11"/>
    <p:sldId id="333" r:id="rId12"/>
    <p:sldId id="334" r:id="rId13"/>
    <p:sldId id="335" r:id="rId14"/>
    <p:sldId id="336" r:id="rId15"/>
    <p:sldId id="337" r:id="rId16"/>
    <p:sldId id="338" r:id="rId17"/>
    <p:sldId id="339" r:id="rId18"/>
    <p:sldId id="340" r:id="rId19"/>
    <p:sldId id="341" r:id="rId20"/>
    <p:sldId id="345" r:id="rId21"/>
    <p:sldId id="352" r:id="rId22"/>
    <p:sldId id="353" r:id="rId23"/>
    <p:sldId id="343" r:id="rId24"/>
    <p:sldId id="344" r:id="rId25"/>
    <p:sldId id="351" r:id="rId26"/>
    <p:sldId id="346" r:id="rId27"/>
    <p:sldId id="347" r:id="rId28"/>
    <p:sldId id="354" r:id="rId29"/>
    <p:sldId id="348" r:id="rId30"/>
    <p:sldId id="349" r:id="rId31"/>
    <p:sldId id="350" r:id="rId32"/>
    <p:sldId id="355" r:id="rId33"/>
    <p:sldId id="356" r:id="rId34"/>
    <p:sldId id="357" r:id="rId35"/>
    <p:sldId id="358" r:id="rId36"/>
    <p:sldId id="359" r:id="rId37"/>
    <p:sldId id="361" r:id="rId38"/>
    <p:sldId id="360" r:id="rId39"/>
    <p:sldId id="363" r:id="rId40"/>
    <p:sldId id="364" r:id="rId41"/>
    <p:sldId id="365" r:id="rId42"/>
    <p:sldId id="397" r:id="rId43"/>
    <p:sldId id="399" r:id="rId44"/>
    <p:sldId id="400" r:id="rId45"/>
    <p:sldId id="398" r:id="rId46"/>
    <p:sldId id="367" r:id="rId47"/>
    <p:sldId id="368" r:id="rId48"/>
    <p:sldId id="369" r:id="rId49"/>
    <p:sldId id="362" r:id="rId50"/>
    <p:sldId id="370" r:id="rId51"/>
    <p:sldId id="371" r:id="rId52"/>
    <p:sldId id="372" r:id="rId53"/>
    <p:sldId id="391" r:id="rId54"/>
    <p:sldId id="373" r:id="rId55"/>
    <p:sldId id="374" r:id="rId56"/>
    <p:sldId id="375" r:id="rId57"/>
    <p:sldId id="376" r:id="rId58"/>
    <p:sldId id="377" r:id="rId59"/>
    <p:sldId id="378" r:id="rId60"/>
    <p:sldId id="379" r:id="rId61"/>
    <p:sldId id="381" r:id="rId62"/>
    <p:sldId id="380" r:id="rId63"/>
    <p:sldId id="382" r:id="rId64"/>
    <p:sldId id="383" r:id="rId65"/>
    <p:sldId id="384" r:id="rId66"/>
    <p:sldId id="385" r:id="rId67"/>
    <p:sldId id="386" r:id="rId68"/>
    <p:sldId id="387" r:id="rId69"/>
    <p:sldId id="388" r:id="rId70"/>
    <p:sldId id="389" r:id="rId71"/>
    <p:sldId id="390" r:id="rId72"/>
    <p:sldId id="392" r:id="rId73"/>
    <p:sldId id="393" r:id="rId74"/>
    <p:sldId id="394" r:id="rId75"/>
    <p:sldId id="395" r:id="rId76"/>
    <p:sldId id="396" r:id="rId7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8FB837D-C827-4EFA-A057-4D05807E0F7C}" styleName="Tema Uygulanmış Stil 1 - Vurgu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1" d="100"/>
          <a:sy n="101" d="100"/>
        </p:scale>
        <p:origin x="9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stilini düzenlemek için tıklayın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DA3BC819-68D5-4B17-9B29-10D4CCE49753}" type="datetimeFigureOut">
              <a:rPr lang="tr-TR" smtClean="0"/>
              <a:t>20.01.2026</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tr-TR"/>
          </a:p>
        </p:txBody>
      </p:sp>
      <p:sp>
        <p:nvSpPr>
          <p:cNvPr id="6" name="Slide Number Placeholder 5"/>
          <p:cNvSpPr>
            <a:spLocks noGrp="1"/>
          </p:cNvSpPr>
          <p:nvPr>
            <p:ph type="sldNum" sz="quarter" idx="12"/>
          </p:nvPr>
        </p:nvSpPr>
        <p:spPr>
          <a:xfrm>
            <a:off x="531812" y="4529540"/>
            <a:ext cx="779767" cy="365125"/>
          </a:xfrm>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2570647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stilini düzenlemek için tıklayın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A3BC819-68D5-4B17-9B29-10D4CCE49753}" type="datetimeFigureOut">
              <a:rPr lang="tr-TR" smtClean="0"/>
              <a:t>20.01.2026</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sp>
        <p:nvSpPr>
          <p:cNvPr id="6" name="Slide Number Placeholder 5"/>
          <p:cNvSpPr>
            <a:spLocks noGrp="1"/>
          </p:cNvSpPr>
          <p:nvPr>
            <p:ph type="sldNum" sz="quarter" idx="12"/>
          </p:nvPr>
        </p:nvSpPr>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1289879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DA3BC819-68D5-4B17-9B29-10D4CCE49753}" type="datetimeFigureOut">
              <a:rPr lang="tr-TR" smtClean="0"/>
              <a:t>20.01.2026</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3126818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DA3BC819-68D5-4B17-9B29-10D4CCE49753}" type="datetimeFigureOut">
              <a:rPr lang="tr-TR" smtClean="0"/>
              <a:t>20.01.2026</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718559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DA3BC819-68D5-4B17-9B29-10D4CCE49753}" type="datetimeFigureOut">
              <a:rPr lang="tr-TR" smtClean="0"/>
              <a:t>20.01.2026</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3981636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DA3BC819-68D5-4B17-9B29-10D4CCE49753}" type="datetimeFigureOut">
              <a:rPr lang="tr-TR" smtClean="0"/>
              <a:t>20.01.2026</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sp>
        <p:nvSpPr>
          <p:cNvPr id="5" name="Slide Number Placeholder 4"/>
          <p:cNvSpPr>
            <a:spLocks noGrp="1"/>
          </p:cNvSpPr>
          <p:nvPr>
            <p:ph type="sldNum" sz="quarter" idx="12"/>
          </p:nvPr>
        </p:nvSpPr>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1111130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3BC819-68D5-4B17-9B29-10D4CCE49753}" type="datetimeFigureOut">
              <a:rPr lang="tr-TR" smtClean="0"/>
              <a:t>20.01.2026</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tr-TR"/>
          </a:p>
        </p:txBody>
      </p:sp>
      <p:sp>
        <p:nvSpPr>
          <p:cNvPr id="4" name="Slide Number Placeholder 3"/>
          <p:cNvSpPr>
            <a:spLocks noGrp="1"/>
          </p:cNvSpPr>
          <p:nvPr>
            <p:ph type="sldNum" sz="quarter" idx="12"/>
          </p:nvPr>
        </p:nvSpPr>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161753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stilini düzenlemek için tıklayın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A3BC819-68D5-4B17-9B29-10D4CCE49753}" type="datetimeFigureOut">
              <a:rPr lang="tr-TR" smtClean="0"/>
              <a:t>20.01.2026</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3721238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DA3BC819-68D5-4B17-9B29-10D4CCE49753}" type="datetimeFigureOut">
              <a:rPr lang="tr-TR" smtClean="0"/>
              <a:t>20.01.2026</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233155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DA3BC819-68D5-4B17-9B29-10D4CCE49753}" type="datetimeFigureOut">
              <a:rPr lang="tr-TR" smtClean="0"/>
              <a:t>20.01.2026</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1427584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stilini düzenlemek için tıklayın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DA3BC819-68D5-4B17-9B29-10D4CCE49753}" type="datetimeFigureOut">
              <a:rPr lang="tr-TR" smtClean="0"/>
              <a:t>20.01.2026</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2F25021-3889-4788-8AD0-839618666C02}"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95438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stilini düzenlemek için tıklayın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düzenlemek için tıklayın</a:t>
            </a:r>
          </a:p>
        </p:txBody>
      </p:sp>
      <p:sp>
        <p:nvSpPr>
          <p:cNvPr id="5" name="Date Placeholder 4"/>
          <p:cNvSpPr>
            <a:spLocks noGrp="1"/>
          </p:cNvSpPr>
          <p:nvPr>
            <p:ph type="dt" sz="half" idx="10"/>
          </p:nvPr>
        </p:nvSpPr>
        <p:spPr/>
        <p:txBody>
          <a:bodyPr/>
          <a:lstStyle/>
          <a:p>
            <a:fld id="{DA3BC819-68D5-4B17-9B29-10D4CCE49753}" type="datetimeFigureOut">
              <a:rPr lang="tr-TR" smtClean="0"/>
              <a:t>20.01.2026</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3836654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stilini düzenlemek için tıklayın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düzenlemek için tıklayın</a:t>
            </a:r>
          </a:p>
        </p:txBody>
      </p:sp>
      <p:sp>
        <p:nvSpPr>
          <p:cNvPr id="5" name="Date Placeholder 4"/>
          <p:cNvSpPr>
            <a:spLocks noGrp="1"/>
          </p:cNvSpPr>
          <p:nvPr>
            <p:ph type="dt" sz="half" idx="10"/>
          </p:nvPr>
        </p:nvSpPr>
        <p:spPr/>
        <p:txBody>
          <a:bodyPr/>
          <a:lstStyle/>
          <a:p>
            <a:fld id="{DA3BC819-68D5-4B17-9B29-10D4CCE49753}" type="datetimeFigureOut">
              <a:rPr lang="tr-TR" smtClean="0"/>
              <a:t>20.01.2026</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2F25021-3889-4788-8AD0-839618666C02}"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41640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stilini düzenlemek için tıklayın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düzenlemek için tıklayın</a:t>
            </a:r>
          </a:p>
        </p:txBody>
      </p:sp>
      <p:sp>
        <p:nvSpPr>
          <p:cNvPr id="5" name="Date Placeholder 4"/>
          <p:cNvSpPr>
            <a:spLocks noGrp="1"/>
          </p:cNvSpPr>
          <p:nvPr>
            <p:ph type="dt" sz="half" idx="10"/>
          </p:nvPr>
        </p:nvSpPr>
        <p:spPr/>
        <p:txBody>
          <a:bodyPr/>
          <a:lstStyle/>
          <a:p>
            <a:fld id="{DA3BC819-68D5-4B17-9B29-10D4CCE49753}" type="datetimeFigureOut">
              <a:rPr lang="tr-TR" smtClean="0"/>
              <a:t>20.01.2026</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1383131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A3BC819-68D5-4B17-9B29-10D4CCE49753}" type="datetimeFigureOut">
              <a:rPr lang="tr-TR" smtClean="0"/>
              <a:t>20.01.2026</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7826334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A3BC819-68D5-4B17-9B29-10D4CCE49753}" type="datetimeFigureOut">
              <a:rPr lang="tr-TR" smtClean="0"/>
              <a:t>20.01.2026</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2F25021-3889-4788-8AD0-839618666C02}" type="slidenum">
              <a:rPr lang="tr-TR" smtClean="0"/>
              <a:t>‹#›</a:t>
            </a:fld>
            <a:endParaRPr lang="tr-TR"/>
          </a:p>
        </p:txBody>
      </p:sp>
    </p:spTree>
    <p:extLst>
      <p:ext uri="{BB962C8B-B14F-4D97-AF65-F5344CB8AC3E}">
        <p14:creationId xmlns:p14="http://schemas.microsoft.com/office/powerpoint/2010/main" val="2118959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tr-TR"/>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tr-TR"/>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tr-TR"/>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tr-TR"/>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tr-TR"/>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tr-TR"/>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tr-TR"/>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tr-TR"/>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tr-TR"/>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tr-TR"/>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tr-TR"/>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tr-TR"/>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tr-TR"/>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tr-TR"/>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tr-TR"/>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tr-TR"/>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tr-TR"/>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tr-TR"/>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tr-TR"/>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tr-TR"/>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tr-TR"/>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tr-TR"/>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tr-TR"/>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tr-TR"/>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tr-TR"/>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A3BC819-68D5-4B17-9B29-10D4CCE49753}" type="datetimeFigureOut">
              <a:rPr lang="tr-TR" smtClean="0"/>
              <a:t>20.01.2026</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2F25021-3889-4788-8AD0-839618666C02}" type="slidenum">
              <a:rPr lang="tr-TR" smtClean="0"/>
              <a:t>‹#›</a:t>
            </a:fld>
            <a:endParaRPr lang="tr-TR"/>
          </a:p>
        </p:txBody>
      </p:sp>
    </p:spTree>
    <p:extLst>
      <p:ext uri="{BB962C8B-B14F-4D97-AF65-F5344CB8AC3E}">
        <p14:creationId xmlns:p14="http://schemas.microsoft.com/office/powerpoint/2010/main" val="3854320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myaccount.google.com/apppassword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mailto:huseyinvural02@gmail.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ip-adresi/send-mail"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expo.dev/signup"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github.com/hvural02/mailPythonProjesiAdy-.git"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hyperlink" Target="http://16.16.67.213:8000/docs"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1F2A5CC-CAF2-6815-552D-A474135F20A2}"/>
              </a:ext>
            </a:extLst>
          </p:cNvPr>
          <p:cNvSpPr>
            <a:spLocks noGrp="1"/>
          </p:cNvSpPr>
          <p:nvPr>
            <p:ph type="ctrTitle"/>
          </p:nvPr>
        </p:nvSpPr>
        <p:spPr/>
        <p:txBody>
          <a:bodyPr/>
          <a:lstStyle/>
          <a:p>
            <a:r>
              <a:rPr lang="tr-TR"/>
              <a:t>eKitap Projesi</a:t>
            </a:r>
          </a:p>
        </p:txBody>
      </p:sp>
      <p:sp>
        <p:nvSpPr>
          <p:cNvPr id="3" name="Alt Başlık 2">
            <a:extLst>
              <a:ext uri="{FF2B5EF4-FFF2-40B4-BE49-F238E27FC236}">
                <a16:creationId xmlns:a16="http://schemas.microsoft.com/office/drawing/2014/main" id="{6A98AAC2-A48C-54AD-0FA5-8E45D2AF90FD}"/>
              </a:ext>
            </a:extLst>
          </p:cNvPr>
          <p:cNvSpPr>
            <a:spLocks noGrp="1"/>
          </p:cNvSpPr>
          <p:nvPr>
            <p:ph type="subTitle" idx="1"/>
          </p:nvPr>
        </p:nvSpPr>
        <p:spPr/>
        <p:txBody>
          <a:bodyPr/>
          <a:lstStyle/>
          <a:p>
            <a:r>
              <a:rPr lang="tr-TR"/>
              <a:t>Mail/Bildirim Gönderimi</a:t>
            </a:r>
          </a:p>
        </p:txBody>
      </p:sp>
    </p:spTree>
    <p:extLst>
      <p:ext uri="{BB962C8B-B14F-4D97-AF65-F5344CB8AC3E}">
        <p14:creationId xmlns:p14="http://schemas.microsoft.com/office/powerpoint/2010/main" val="3696671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EEF96-722E-68D4-3565-D73D540A5434}"/>
            </a:ext>
          </a:extLst>
        </p:cNvPr>
        <p:cNvGrpSpPr/>
        <p:nvPr/>
      </p:nvGrpSpPr>
      <p:grpSpPr>
        <a:xfrm>
          <a:off x="0" y="0"/>
          <a:ext cx="0" cy="0"/>
          <a:chOff x="0" y="0"/>
          <a:chExt cx="0" cy="0"/>
        </a:xfrm>
      </p:grpSpPr>
      <p:sp>
        <p:nvSpPr>
          <p:cNvPr id="4" name="Başlık 3">
            <a:extLst>
              <a:ext uri="{FF2B5EF4-FFF2-40B4-BE49-F238E27FC236}">
                <a16:creationId xmlns:a16="http://schemas.microsoft.com/office/drawing/2014/main" id="{E113BBE9-B710-CF20-DE88-940484984B43}"/>
              </a:ext>
            </a:extLst>
          </p:cNvPr>
          <p:cNvSpPr>
            <a:spLocks noGrp="1"/>
          </p:cNvSpPr>
          <p:nvPr>
            <p:ph type="title"/>
          </p:nvPr>
        </p:nvSpPr>
        <p:spPr/>
        <p:txBody>
          <a:bodyPr/>
          <a:lstStyle/>
          <a:p>
            <a:r>
              <a:rPr lang="tr-TR" dirty="0"/>
              <a:t>Mail/Bildirim gönderimi</a:t>
            </a:r>
          </a:p>
        </p:txBody>
      </p:sp>
      <p:sp>
        <p:nvSpPr>
          <p:cNvPr id="6" name="İçerik Yer Tutucusu 5">
            <a:extLst>
              <a:ext uri="{FF2B5EF4-FFF2-40B4-BE49-F238E27FC236}">
                <a16:creationId xmlns:a16="http://schemas.microsoft.com/office/drawing/2014/main" id="{ABA6B103-4AEB-BC8C-18B0-D1737E869173}"/>
              </a:ext>
            </a:extLst>
          </p:cNvPr>
          <p:cNvSpPr>
            <a:spLocks noGrp="1"/>
          </p:cNvSpPr>
          <p:nvPr>
            <p:ph idx="1"/>
          </p:nvPr>
        </p:nvSpPr>
        <p:spPr>
          <a:xfrm>
            <a:off x="2589212" y="2133599"/>
            <a:ext cx="8915400" cy="4444181"/>
          </a:xfrm>
        </p:spPr>
        <p:txBody>
          <a:bodyPr>
            <a:normAutofit fontScale="92500" lnSpcReduction="10000"/>
          </a:bodyPr>
          <a:lstStyle/>
          <a:p>
            <a:r>
              <a:rPr lang="tr-TR" dirty="0"/>
              <a:t>Projemize mail gönderimi de ekliyoruz. </a:t>
            </a:r>
          </a:p>
          <a:p>
            <a:endParaRPr lang="tr-TR" dirty="0"/>
          </a:p>
          <a:p>
            <a:r>
              <a:rPr lang="tr-TR" dirty="0"/>
              <a:t>Bu her bir projeniz özelinde, belirlediğiniz bir işlem tamamlanınca veya kullanıcı kaydolunca kullanıcıya mail gönderme şeklinde olacaktır. (istediğinizi seçebilirsiniz veya her iki şekilde de mail gönderebilirsiniz)</a:t>
            </a:r>
          </a:p>
          <a:p>
            <a:endParaRPr lang="tr-TR" dirty="0"/>
          </a:p>
          <a:p>
            <a:r>
              <a:rPr lang="tr-TR" dirty="0"/>
              <a:t>Mail gönderme işini ayrı bir projede yaptıktan sonra ana </a:t>
            </a:r>
            <a:r>
              <a:rPr lang="tr-TR" dirty="0" err="1"/>
              <a:t>spring</a:t>
            </a:r>
            <a:r>
              <a:rPr lang="tr-TR" dirty="0"/>
              <a:t> </a:t>
            </a:r>
            <a:r>
              <a:rPr lang="tr-TR" dirty="0" err="1"/>
              <a:t>boot</a:t>
            </a:r>
            <a:r>
              <a:rPr lang="tr-TR" dirty="0"/>
              <a:t> projemize entegrasyonunu </a:t>
            </a:r>
            <a:r>
              <a:rPr lang="tr-TR" dirty="0" err="1"/>
              <a:t>gerçekleştirecez</a:t>
            </a:r>
            <a:r>
              <a:rPr lang="tr-TR" dirty="0"/>
              <a:t>.</a:t>
            </a:r>
          </a:p>
          <a:p>
            <a:endParaRPr lang="tr-TR" dirty="0"/>
          </a:p>
          <a:p>
            <a:r>
              <a:rPr lang="tr-TR" dirty="0"/>
              <a:t>Ayrı bir projede yapmamızın amacı yazılım dünyasında çok önemli bir yeri olan </a:t>
            </a:r>
            <a:r>
              <a:rPr lang="tr-TR" b="1" dirty="0" err="1"/>
              <a:t>Mikroservis</a:t>
            </a:r>
            <a:r>
              <a:rPr lang="tr-TR" dirty="0"/>
              <a:t> mimarisini uygulamaktır.  </a:t>
            </a:r>
          </a:p>
          <a:p>
            <a:endParaRPr lang="tr-TR" dirty="0"/>
          </a:p>
          <a:p>
            <a:r>
              <a:rPr lang="tr-TR" b="1" dirty="0" err="1"/>
              <a:t>Mikroservis</a:t>
            </a:r>
            <a:r>
              <a:rPr lang="tr-TR" dirty="0"/>
              <a:t> = farklı işlerin farklı projelerde yapılıp, projeler arasında </a:t>
            </a:r>
            <a:r>
              <a:rPr lang="tr-TR" dirty="0" err="1"/>
              <a:t>API’ler</a:t>
            </a:r>
            <a:r>
              <a:rPr lang="tr-TR" dirty="0"/>
              <a:t> üzerinden entegrasyon ile ana sistemin oluşturulmasıdır. </a:t>
            </a:r>
          </a:p>
        </p:txBody>
      </p:sp>
    </p:spTree>
    <p:extLst>
      <p:ext uri="{BB962C8B-B14F-4D97-AF65-F5344CB8AC3E}">
        <p14:creationId xmlns:p14="http://schemas.microsoft.com/office/powerpoint/2010/main" val="365579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17843-A336-7130-2A68-97A3D267775A}"/>
            </a:ext>
          </a:extLst>
        </p:cNvPr>
        <p:cNvGrpSpPr/>
        <p:nvPr/>
      </p:nvGrpSpPr>
      <p:grpSpPr>
        <a:xfrm>
          <a:off x="0" y="0"/>
          <a:ext cx="0" cy="0"/>
          <a:chOff x="0" y="0"/>
          <a:chExt cx="0" cy="0"/>
        </a:xfrm>
      </p:grpSpPr>
      <p:sp>
        <p:nvSpPr>
          <p:cNvPr id="4" name="Başlık 3">
            <a:extLst>
              <a:ext uri="{FF2B5EF4-FFF2-40B4-BE49-F238E27FC236}">
                <a16:creationId xmlns:a16="http://schemas.microsoft.com/office/drawing/2014/main" id="{DCC74806-B5F7-9A5A-5E6F-75CB3BC95DF3}"/>
              </a:ext>
            </a:extLst>
          </p:cNvPr>
          <p:cNvSpPr>
            <a:spLocks noGrp="1"/>
          </p:cNvSpPr>
          <p:nvPr>
            <p:ph type="title"/>
          </p:nvPr>
        </p:nvSpPr>
        <p:spPr/>
        <p:txBody>
          <a:bodyPr/>
          <a:lstStyle/>
          <a:p>
            <a:r>
              <a:rPr lang="tr-TR"/>
              <a:t>Mail/Bildirim gönderimi</a:t>
            </a:r>
          </a:p>
        </p:txBody>
      </p:sp>
      <p:sp>
        <p:nvSpPr>
          <p:cNvPr id="6" name="İçerik Yer Tutucusu 5">
            <a:extLst>
              <a:ext uri="{FF2B5EF4-FFF2-40B4-BE49-F238E27FC236}">
                <a16:creationId xmlns:a16="http://schemas.microsoft.com/office/drawing/2014/main" id="{31CE6614-3FFB-E1BC-EF16-EEDE6E5C6BF4}"/>
              </a:ext>
            </a:extLst>
          </p:cNvPr>
          <p:cNvSpPr>
            <a:spLocks noGrp="1"/>
          </p:cNvSpPr>
          <p:nvPr>
            <p:ph idx="1"/>
          </p:nvPr>
        </p:nvSpPr>
        <p:spPr>
          <a:xfrm>
            <a:off x="2589212" y="2133599"/>
            <a:ext cx="8915400" cy="4444181"/>
          </a:xfrm>
        </p:spPr>
        <p:txBody>
          <a:bodyPr>
            <a:normAutofit/>
          </a:bodyPr>
          <a:lstStyle/>
          <a:p>
            <a:r>
              <a:rPr lang="tr-TR" dirty="0"/>
              <a:t>Bu entegrasyonu bitirdikten sonra </a:t>
            </a:r>
            <a:r>
              <a:rPr lang="tr-TR" b="1" dirty="0" err="1"/>
              <a:t>CV</a:t>
            </a:r>
            <a:r>
              <a:rPr lang="tr-TR" dirty="0" err="1"/>
              <a:t>’inize</a:t>
            </a:r>
            <a:r>
              <a:rPr lang="tr-TR" dirty="0"/>
              <a:t> aşağıdakileri ekleyebilecekseniz</a:t>
            </a:r>
          </a:p>
          <a:p>
            <a:pPr lvl="1"/>
            <a:r>
              <a:rPr lang="tr-TR" dirty="0"/>
              <a:t>Java Spring </a:t>
            </a:r>
            <a:r>
              <a:rPr lang="tr-TR" dirty="0" err="1"/>
              <a:t>Boot</a:t>
            </a:r>
            <a:r>
              <a:rPr lang="tr-TR" dirty="0"/>
              <a:t> ile çok katmanlı </a:t>
            </a:r>
            <a:r>
              <a:rPr lang="tr-TR" dirty="0" err="1"/>
              <a:t>backend</a:t>
            </a:r>
            <a:r>
              <a:rPr lang="tr-TR" dirty="0"/>
              <a:t> geliştirme</a:t>
            </a:r>
          </a:p>
          <a:p>
            <a:pPr lvl="1"/>
            <a:r>
              <a:rPr lang="tr-TR" dirty="0"/>
              <a:t>Google gemini AI API entegrasyonu</a:t>
            </a:r>
          </a:p>
          <a:p>
            <a:pPr lvl="1"/>
            <a:r>
              <a:rPr lang="tr-TR" dirty="0"/>
              <a:t>Python </a:t>
            </a:r>
            <a:r>
              <a:rPr lang="tr-TR" dirty="0" err="1"/>
              <a:t>FastAPI</a:t>
            </a:r>
            <a:r>
              <a:rPr lang="tr-TR" dirty="0"/>
              <a:t> tabanlı bir </a:t>
            </a:r>
            <a:r>
              <a:rPr lang="tr-TR" dirty="0" err="1"/>
              <a:t>mikroservis</a:t>
            </a:r>
            <a:r>
              <a:rPr lang="tr-TR" dirty="0"/>
              <a:t> üzerinden Gmail SMTP kullanılarak mail gönderimi (Mail/Bildirim Servisi)</a:t>
            </a:r>
          </a:p>
          <a:p>
            <a:pPr lvl="1"/>
            <a:r>
              <a:rPr lang="tr-TR" dirty="0" err="1"/>
              <a:t>React</a:t>
            </a:r>
            <a:r>
              <a:rPr lang="tr-TR" dirty="0"/>
              <a:t> </a:t>
            </a:r>
            <a:r>
              <a:rPr lang="tr-TR" dirty="0" err="1"/>
              <a:t>Native</a:t>
            </a:r>
            <a:r>
              <a:rPr lang="tr-TR" dirty="0"/>
              <a:t> (Expo) ile mobil uygulama geliştirme</a:t>
            </a:r>
          </a:p>
          <a:p>
            <a:pPr lvl="1"/>
            <a:r>
              <a:rPr lang="tr-TR" dirty="0"/>
              <a:t>JWT tabanlı kimlik doğrulama (Mobil)</a:t>
            </a:r>
          </a:p>
          <a:p>
            <a:pPr lvl="1"/>
            <a:r>
              <a:rPr lang="tr-TR" dirty="0"/>
              <a:t>Spring Security oturum tabanlı kimlik doğrulama (Web)</a:t>
            </a:r>
          </a:p>
          <a:p>
            <a:pPr lvl="1"/>
            <a:r>
              <a:rPr lang="tr-TR" dirty="0" err="1"/>
              <a:t>RESTful</a:t>
            </a:r>
            <a:r>
              <a:rPr lang="tr-TR" dirty="0"/>
              <a:t> API tasarımı</a:t>
            </a:r>
          </a:p>
          <a:p>
            <a:pPr lvl="1"/>
            <a:r>
              <a:rPr lang="tr-TR" dirty="0"/>
              <a:t>MySQL entegrasyonu</a:t>
            </a:r>
          </a:p>
          <a:p>
            <a:pPr lvl="1"/>
            <a:r>
              <a:rPr lang="tr-TR" dirty="0"/>
              <a:t>AWS EC2 </a:t>
            </a:r>
            <a:r>
              <a:rPr lang="tr-TR" dirty="0" err="1"/>
              <a:t>deployment</a:t>
            </a:r>
            <a:endParaRPr lang="tr-TR" dirty="0"/>
          </a:p>
          <a:p>
            <a:pPr lvl="1"/>
            <a:r>
              <a:rPr lang="tr-TR" dirty="0"/>
              <a:t>CI/CD-</a:t>
            </a:r>
            <a:r>
              <a:rPr lang="tr-TR" dirty="0" err="1"/>
              <a:t>Continuous</a:t>
            </a:r>
            <a:r>
              <a:rPr lang="tr-TR" dirty="0"/>
              <a:t> Integration/</a:t>
            </a:r>
            <a:r>
              <a:rPr lang="tr-TR" dirty="0" err="1"/>
              <a:t>Continuous</a:t>
            </a:r>
            <a:r>
              <a:rPr lang="tr-TR" dirty="0"/>
              <a:t> </a:t>
            </a:r>
            <a:r>
              <a:rPr lang="tr-TR" dirty="0" err="1"/>
              <a:t>Develeopment</a:t>
            </a:r>
            <a:r>
              <a:rPr lang="tr-TR" dirty="0"/>
              <a:t> (</a:t>
            </a:r>
            <a:r>
              <a:rPr lang="tr-TR" dirty="0" err="1"/>
              <a:t>GitHub</a:t>
            </a:r>
            <a:r>
              <a:rPr lang="tr-TR" dirty="0"/>
              <a:t> </a:t>
            </a:r>
            <a:r>
              <a:rPr lang="tr-TR" dirty="0" err="1"/>
              <a:t>actions</a:t>
            </a:r>
            <a:r>
              <a:rPr lang="tr-TR" dirty="0"/>
              <a:t>)</a:t>
            </a:r>
          </a:p>
        </p:txBody>
      </p:sp>
    </p:spTree>
    <p:extLst>
      <p:ext uri="{BB962C8B-B14F-4D97-AF65-F5344CB8AC3E}">
        <p14:creationId xmlns:p14="http://schemas.microsoft.com/office/powerpoint/2010/main" val="2042179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673A6DB-1756-5A93-FB12-4A995D51996E}"/>
              </a:ext>
            </a:extLst>
          </p:cNvPr>
          <p:cNvSpPr>
            <a:spLocks noGrp="1"/>
          </p:cNvSpPr>
          <p:nvPr>
            <p:ph type="title"/>
          </p:nvPr>
        </p:nvSpPr>
        <p:spPr/>
        <p:txBody>
          <a:bodyPr/>
          <a:lstStyle/>
          <a:p>
            <a:r>
              <a:rPr lang="tr-TR"/>
              <a:t>Google Hesap</a:t>
            </a:r>
          </a:p>
        </p:txBody>
      </p:sp>
      <p:sp>
        <p:nvSpPr>
          <p:cNvPr id="3" name="İçerik Yer Tutucusu 2">
            <a:extLst>
              <a:ext uri="{FF2B5EF4-FFF2-40B4-BE49-F238E27FC236}">
                <a16:creationId xmlns:a16="http://schemas.microsoft.com/office/drawing/2014/main" id="{988F77CA-AD3D-BCA9-119E-898CE7A937CA}"/>
              </a:ext>
            </a:extLst>
          </p:cNvPr>
          <p:cNvSpPr>
            <a:spLocks noGrp="1"/>
          </p:cNvSpPr>
          <p:nvPr>
            <p:ph idx="1"/>
          </p:nvPr>
        </p:nvSpPr>
        <p:spPr>
          <a:xfrm>
            <a:off x="2296191" y="1402538"/>
            <a:ext cx="8915400" cy="3777622"/>
          </a:xfrm>
        </p:spPr>
        <p:txBody>
          <a:bodyPr/>
          <a:lstStyle/>
          <a:p>
            <a:r>
              <a:rPr lang="tr-TR"/>
              <a:t>Gmail’de oturum açıp 2 adımlı kimlik doğrulamayı etkinleştirdikten sonra </a:t>
            </a:r>
            <a:r>
              <a:rPr lang="tr-TR">
                <a:hlinkClick r:id="rId2"/>
              </a:rPr>
              <a:t>https://myaccount.google.com/apppasswords</a:t>
            </a:r>
            <a:r>
              <a:rPr lang="tr-TR"/>
              <a:t> adresine gidip isim veriyoruz</a:t>
            </a:r>
          </a:p>
          <a:p>
            <a:r>
              <a:rPr lang="tr-TR"/>
              <a:t>Ekranda gözüken şifre sadece 1 defalığına gözükecektir, kapatmadan kaydedin</a:t>
            </a:r>
          </a:p>
          <a:p>
            <a:endParaRPr lang="tr-TR"/>
          </a:p>
        </p:txBody>
      </p:sp>
      <p:pic>
        <p:nvPicPr>
          <p:cNvPr id="15" name="Resim 14">
            <a:extLst>
              <a:ext uri="{FF2B5EF4-FFF2-40B4-BE49-F238E27FC236}">
                <a16:creationId xmlns:a16="http://schemas.microsoft.com/office/drawing/2014/main" id="{AEDBADFF-5BE2-AC0C-567A-C26A2BD1339A}"/>
              </a:ext>
            </a:extLst>
          </p:cNvPr>
          <p:cNvPicPr>
            <a:picLocks noChangeAspect="1"/>
          </p:cNvPicPr>
          <p:nvPr/>
        </p:nvPicPr>
        <p:blipFill>
          <a:blip r:embed="rId3"/>
          <a:stretch>
            <a:fillRect/>
          </a:stretch>
        </p:blipFill>
        <p:spPr>
          <a:xfrm>
            <a:off x="130628" y="2683428"/>
            <a:ext cx="12192000" cy="4174571"/>
          </a:xfrm>
          <a:prstGeom prst="rect">
            <a:avLst/>
          </a:prstGeom>
        </p:spPr>
      </p:pic>
    </p:spTree>
    <p:extLst>
      <p:ext uri="{BB962C8B-B14F-4D97-AF65-F5344CB8AC3E}">
        <p14:creationId xmlns:p14="http://schemas.microsoft.com/office/powerpoint/2010/main" val="2988740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626F3-B902-4BFF-110D-C37F6286FB5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5E29A8D-1870-B150-BA62-C0327D398BA8}"/>
              </a:ext>
            </a:extLst>
          </p:cNvPr>
          <p:cNvSpPr>
            <a:spLocks noGrp="1"/>
          </p:cNvSpPr>
          <p:nvPr>
            <p:ph type="title"/>
          </p:nvPr>
        </p:nvSpPr>
        <p:spPr/>
        <p:txBody>
          <a:bodyPr/>
          <a:lstStyle/>
          <a:p>
            <a:r>
              <a:rPr lang="tr-TR"/>
              <a:t>PyCharm	</a:t>
            </a:r>
          </a:p>
        </p:txBody>
      </p:sp>
      <p:sp>
        <p:nvSpPr>
          <p:cNvPr id="3" name="İçerik Yer Tutucusu 2">
            <a:extLst>
              <a:ext uri="{FF2B5EF4-FFF2-40B4-BE49-F238E27FC236}">
                <a16:creationId xmlns:a16="http://schemas.microsoft.com/office/drawing/2014/main" id="{9045CCDB-0384-9423-5179-C78CDB8E926C}"/>
              </a:ext>
            </a:extLst>
          </p:cNvPr>
          <p:cNvSpPr>
            <a:spLocks noGrp="1"/>
          </p:cNvSpPr>
          <p:nvPr>
            <p:ph idx="1"/>
          </p:nvPr>
        </p:nvSpPr>
        <p:spPr>
          <a:xfrm>
            <a:off x="2325688" y="1540189"/>
            <a:ext cx="8915400" cy="3777622"/>
          </a:xfrm>
        </p:spPr>
        <p:txBody>
          <a:bodyPr/>
          <a:lstStyle/>
          <a:p>
            <a:r>
              <a:rPr lang="tr-TR"/>
              <a:t>Aldığımız şifre, Gmail SMTP (Simple Mail Transfer Protocol) sunucusuna uygulamalarımız üzerinden bağlantı için kullanılacaktır.</a:t>
            </a:r>
          </a:p>
          <a:p>
            <a:endParaRPr lang="tr-TR"/>
          </a:p>
          <a:p>
            <a:endParaRPr lang="tr-TR"/>
          </a:p>
          <a:p>
            <a:endParaRPr lang="tr-TR"/>
          </a:p>
        </p:txBody>
      </p:sp>
      <p:sp>
        <p:nvSpPr>
          <p:cNvPr id="11" name="Dikdörtgen: Köşeleri Yuvarlatılmış 10">
            <a:extLst>
              <a:ext uri="{FF2B5EF4-FFF2-40B4-BE49-F238E27FC236}">
                <a16:creationId xmlns:a16="http://schemas.microsoft.com/office/drawing/2014/main" id="{850DB176-C8C1-213C-3A45-E8F67AAA0631}"/>
              </a:ext>
            </a:extLst>
          </p:cNvPr>
          <p:cNvSpPr/>
          <p:nvPr/>
        </p:nvSpPr>
        <p:spPr>
          <a:xfrm>
            <a:off x="5309420" y="3887042"/>
            <a:ext cx="1802078" cy="1280890"/>
          </a:xfrm>
          <a:prstGeom prst="round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a:t>Python</a:t>
            </a:r>
          </a:p>
        </p:txBody>
      </p:sp>
      <p:sp>
        <p:nvSpPr>
          <p:cNvPr id="12" name="Dikdörtgen 11">
            <a:extLst>
              <a:ext uri="{FF2B5EF4-FFF2-40B4-BE49-F238E27FC236}">
                <a16:creationId xmlns:a16="http://schemas.microsoft.com/office/drawing/2014/main" id="{C73D11FA-16CD-0179-BABE-B5C0B5D125DE}"/>
              </a:ext>
            </a:extLst>
          </p:cNvPr>
          <p:cNvSpPr/>
          <p:nvPr/>
        </p:nvSpPr>
        <p:spPr>
          <a:xfrm>
            <a:off x="9989849" y="3887041"/>
            <a:ext cx="1802078" cy="1280889"/>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a:t>Gmail SMTP Sunucusu</a:t>
            </a:r>
          </a:p>
        </p:txBody>
      </p:sp>
      <p:sp>
        <p:nvSpPr>
          <p:cNvPr id="13" name="Ok: Sol Sağ 12">
            <a:extLst>
              <a:ext uri="{FF2B5EF4-FFF2-40B4-BE49-F238E27FC236}">
                <a16:creationId xmlns:a16="http://schemas.microsoft.com/office/drawing/2014/main" id="{232CC0A4-3621-03CD-A1DB-290F458A538B}"/>
              </a:ext>
            </a:extLst>
          </p:cNvPr>
          <p:cNvSpPr/>
          <p:nvPr/>
        </p:nvSpPr>
        <p:spPr>
          <a:xfrm>
            <a:off x="7111498" y="4422117"/>
            <a:ext cx="2878351" cy="174258"/>
          </a:xfrm>
          <a:prstGeom prst="lef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Metin kutusu 13">
            <a:extLst>
              <a:ext uri="{FF2B5EF4-FFF2-40B4-BE49-F238E27FC236}">
                <a16:creationId xmlns:a16="http://schemas.microsoft.com/office/drawing/2014/main" id="{E08B0F0B-01EC-C34C-6998-0F89EEE26904}"/>
              </a:ext>
            </a:extLst>
          </p:cNvPr>
          <p:cNvSpPr txBox="1"/>
          <p:nvPr/>
        </p:nvSpPr>
        <p:spPr>
          <a:xfrm>
            <a:off x="7504166" y="3831414"/>
            <a:ext cx="2055371" cy="646331"/>
          </a:xfrm>
          <a:prstGeom prst="rect">
            <a:avLst/>
          </a:prstGeom>
          <a:noFill/>
        </p:spPr>
        <p:txBody>
          <a:bodyPr wrap="none" rtlCol="0">
            <a:spAutoFit/>
          </a:bodyPr>
          <a:lstStyle/>
          <a:p>
            <a:r>
              <a:rPr lang="tr-TR"/>
              <a:t>Gmail uygulama</a:t>
            </a:r>
          </a:p>
          <a:p>
            <a:r>
              <a:rPr lang="tr-TR"/>
              <a:t>         şifresi</a:t>
            </a:r>
          </a:p>
        </p:txBody>
      </p:sp>
      <p:sp>
        <p:nvSpPr>
          <p:cNvPr id="15" name="Dikdörtgen: Köşeleri Yuvarlatılmış 14">
            <a:extLst>
              <a:ext uri="{FF2B5EF4-FFF2-40B4-BE49-F238E27FC236}">
                <a16:creationId xmlns:a16="http://schemas.microsoft.com/office/drawing/2014/main" id="{87F355D8-1DD6-8923-FD0C-46E3DB597451}"/>
              </a:ext>
            </a:extLst>
          </p:cNvPr>
          <p:cNvSpPr/>
          <p:nvPr/>
        </p:nvSpPr>
        <p:spPr>
          <a:xfrm>
            <a:off x="1373742" y="3868801"/>
            <a:ext cx="1802078" cy="128089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a:t>Spring Boot</a:t>
            </a:r>
          </a:p>
        </p:txBody>
      </p:sp>
      <p:sp>
        <p:nvSpPr>
          <p:cNvPr id="16" name="Ok: Sol Sağ 15">
            <a:extLst>
              <a:ext uri="{FF2B5EF4-FFF2-40B4-BE49-F238E27FC236}">
                <a16:creationId xmlns:a16="http://schemas.microsoft.com/office/drawing/2014/main" id="{74695E0A-D47E-263A-1A53-DB79E48D4063}"/>
              </a:ext>
            </a:extLst>
          </p:cNvPr>
          <p:cNvSpPr/>
          <p:nvPr/>
        </p:nvSpPr>
        <p:spPr>
          <a:xfrm>
            <a:off x="3175820" y="4440356"/>
            <a:ext cx="2133600" cy="156019"/>
          </a:xfrm>
          <a:prstGeom prst="lef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Metin kutusu 16">
            <a:extLst>
              <a:ext uri="{FF2B5EF4-FFF2-40B4-BE49-F238E27FC236}">
                <a16:creationId xmlns:a16="http://schemas.microsoft.com/office/drawing/2014/main" id="{FEABD112-8FCF-AAB9-C545-9DC5C800B289}"/>
              </a:ext>
            </a:extLst>
          </p:cNvPr>
          <p:cNvSpPr txBox="1"/>
          <p:nvPr/>
        </p:nvSpPr>
        <p:spPr>
          <a:xfrm>
            <a:off x="3712888" y="4052785"/>
            <a:ext cx="1035861" cy="369332"/>
          </a:xfrm>
          <a:prstGeom prst="rect">
            <a:avLst/>
          </a:prstGeom>
          <a:noFill/>
        </p:spPr>
        <p:txBody>
          <a:bodyPr wrap="none" rtlCol="0">
            <a:spAutoFit/>
          </a:bodyPr>
          <a:lstStyle/>
          <a:p>
            <a:r>
              <a:rPr lang="tr-TR"/>
              <a:t>RESTApi</a:t>
            </a:r>
          </a:p>
        </p:txBody>
      </p:sp>
    </p:spTree>
    <p:extLst>
      <p:ext uri="{BB962C8B-B14F-4D97-AF65-F5344CB8AC3E}">
        <p14:creationId xmlns:p14="http://schemas.microsoft.com/office/powerpoint/2010/main" val="1514921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E2C9A-9DF6-C32A-8557-AABE66E11A9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A8457723-5706-452E-A249-B14C297C67CA}"/>
              </a:ext>
            </a:extLst>
          </p:cNvPr>
          <p:cNvSpPr>
            <a:spLocks noGrp="1"/>
          </p:cNvSpPr>
          <p:nvPr>
            <p:ph type="title"/>
          </p:nvPr>
        </p:nvSpPr>
        <p:spPr/>
        <p:txBody>
          <a:bodyPr/>
          <a:lstStyle/>
          <a:p>
            <a:r>
              <a:rPr lang="tr-TR"/>
              <a:t>PyCharm	</a:t>
            </a:r>
          </a:p>
        </p:txBody>
      </p:sp>
      <p:sp>
        <p:nvSpPr>
          <p:cNvPr id="3" name="İçerik Yer Tutucusu 2">
            <a:extLst>
              <a:ext uri="{FF2B5EF4-FFF2-40B4-BE49-F238E27FC236}">
                <a16:creationId xmlns:a16="http://schemas.microsoft.com/office/drawing/2014/main" id="{2899EBB6-59B9-92BD-B55C-AAB1D5D3160C}"/>
              </a:ext>
            </a:extLst>
          </p:cNvPr>
          <p:cNvSpPr>
            <a:spLocks noGrp="1"/>
          </p:cNvSpPr>
          <p:nvPr>
            <p:ph idx="1"/>
          </p:nvPr>
        </p:nvSpPr>
        <p:spPr>
          <a:xfrm>
            <a:off x="2325688" y="1540189"/>
            <a:ext cx="8915400" cy="3777622"/>
          </a:xfrm>
        </p:spPr>
        <p:txBody>
          <a:bodyPr/>
          <a:lstStyle/>
          <a:p>
            <a:r>
              <a:rPr lang="tr-TR"/>
              <a:t>Python kodlarının ayrı bir editörde yazılması için PyCharm indirip kuruyoruz.</a:t>
            </a:r>
          </a:p>
          <a:p>
            <a:r>
              <a:rPr lang="tr-TR"/>
              <a:t>Kurduktan sonra FastAPI projesini seçiyoruz</a:t>
            </a:r>
          </a:p>
        </p:txBody>
      </p:sp>
      <p:pic>
        <p:nvPicPr>
          <p:cNvPr id="5" name="Resim 4">
            <a:extLst>
              <a:ext uri="{FF2B5EF4-FFF2-40B4-BE49-F238E27FC236}">
                <a16:creationId xmlns:a16="http://schemas.microsoft.com/office/drawing/2014/main" id="{1B859A31-7AB4-6157-C984-C4D386BF66AE}"/>
              </a:ext>
            </a:extLst>
          </p:cNvPr>
          <p:cNvPicPr>
            <a:picLocks noChangeAspect="1"/>
          </p:cNvPicPr>
          <p:nvPr/>
        </p:nvPicPr>
        <p:blipFill>
          <a:blip r:embed="rId2"/>
          <a:stretch>
            <a:fillRect/>
          </a:stretch>
        </p:blipFill>
        <p:spPr>
          <a:xfrm>
            <a:off x="0" y="2222090"/>
            <a:ext cx="12192000" cy="4635910"/>
          </a:xfrm>
          <a:prstGeom prst="rect">
            <a:avLst/>
          </a:prstGeom>
        </p:spPr>
      </p:pic>
    </p:spTree>
    <p:extLst>
      <p:ext uri="{BB962C8B-B14F-4D97-AF65-F5344CB8AC3E}">
        <p14:creationId xmlns:p14="http://schemas.microsoft.com/office/powerpoint/2010/main" val="577671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6AFFA-135D-F8B6-A196-56A613FB1ED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72BF3D2-543F-DFB8-DEEF-246AAD4239C0}"/>
              </a:ext>
            </a:extLst>
          </p:cNvPr>
          <p:cNvSpPr>
            <a:spLocks noGrp="1"/>
          </p:cNvSpPr>
          <p:nvPr>
            <p:ph type="title"/>
          </p:nvPr>
        </p:nvSpPr>
        <p:spPr/>
        <p:txBody>
          <a:bodyPr/>
          <a:lstStyle/>
          <a:p>
            <a:r>
              <a:rPr lang="tr-TR"/>
              <a:t>PyCharm	</a:t>
            </a:r>
          </a:p>
        </p:txBody>
      </p:sp>
      <p:sp>
        <p:nvSpPr>
          <p:cNvPr id="3" name="İçerik Yer Tutucusu 2">
            <a:extLst>
              <a:ext uri="{FF2B5EF4-FFF2-40B4-BE49-F238E27FC236}">
                <a16:creationId xmlns:a16="http://schemas.microsoft.com/office/drawing/2014/main" id="{2022B399-AFAE-D4C8-EE5D-88059F931998}"/>
              </a:ext>
            </a:extLst>
          </p:cNvPr>
          <p:cNvSpPr>
            <a:spLocks noGrp="1"/>
          </p:cNvSpPr>
          <p:nvPr>
            <p:ph idx="1"/>
          </p:nvPr>
        </p:nvSpPr>
        <p:spPr>
          <a:xfrm>
            <a:off x="2325688" y="1540189"/>
            <a:ext cx="8915400" cy="3777622"/>
          </a:xfrm>
        </p:spPr>
        <p:txBody>
          <a:bodyPr/>
          <a:lstStyle/>
          <a:p>
            <a:r>
              <a:rPr lang="tr-TR"/>
              <a:t>Daha sonra terminali açıp aşağıdaki kodu yazıp çalıştırıyoruz:                       pip install fastapi uvicorn python-dotenv aiosmtplib email-validator</a:t>
            </a:r>
          </a:p>
          <a:p>
            <a:pPr marL="0" indent="0">
              <a:buNone/>
            </a:pPr>
            <a:endParaRPr lang="tr-TR"/>
          </a:p>
        </p:txBody>
      </p:sp>
    </p:spTree>
    <p:extLst>
      <p:ext uri="{BB962C8B-B14F-4D97-AF65-F5344CB8AC3E}">
        <p14:creationId xmlns:p14="http://schemas.microsoft.com/office/powerpoint/2010/main" val="1381047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746E19-1617-3729-6D9D-193C5528C70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C8EB592-F80C-68F0-0E47-B128C861F839}"/>
              </a:ext>
            </a:extLst>
          </p:cNvPr>
          <p:cNvSpPr>
            <a:spLocks noGrp="1"/>
          </p:cNvSpPr>
          <p:nvPr>
            <p:ph type="title"/>
          </p:nvPr>
        </p:nvSpPr>
        <p:spPr>
          <a:xfrm>
            <a:off x="2563428" y="259299"/>
            <a:ext cx="8911687" cy="1280890"/>
          </a:xfrm>
        </p:spPr>
        <p:txBody>
          <a:bodyPr/>
          <a:lstStyle/>
          <a:p>
            <a:r>
              <a:rPr lang="tr-TR"/>
              <a:t>PyCharm	</a:t>
            </a:r>
          </a:p>
        </p:txBody>
      </p:sp>
      <p:sp>
        <p:nvSpPr>
          <p:cNvPr id="3" name="İçerik Yer Tutucusu 2">
            <a:extLst>
              <a:ext uri="{FF2B5EF4-FFF2-40B4-BE49-F238E27FC236}">
                <a16:creationId xmlns:a16="http://schemas.microsoft.com/office/drawing/2014/main" id="{0201645E-6C6C-BAF3-2011-4584CBEDAAE8}"/>
              </a:ext>
            </a:extLst>
          </p:cNvPr>
          <p:cNvSpPr>
            <a:spLocks noGrp="1"/>
          </p:cNvSpPr>
          <p:nvPr>
            <p:ph idx="1"/>
          </p:nvPr>
        </p:nvSpPr>
        <p:spPr>
          <a:xfrm>
            <a:off x="2217533" y="1146898"/>
            <a:ext cx="8915400" cy="3777622"/>
          </a:xfrm>
        </p:spPr>
        <p:txBody>
          <a:bodyPr/>
          <a:lstStyle/>
          <a:p>
            <a:r>
              <a:rPr lang="tr-TR"/>
              <a:t>Projenin (eKitapMailGonderim) üstüne gelip sağ click new file diyoruz ve dosya adını .env yapıp ekliyoruz, .env dosya içerisine aşağıdaki 4 satır kodu ekliyoruz (en alttaki </a:t>
            </a:r>
            <a:r>
              <a:rPr lang="tr-TR" u="sng"/>
              <a:t>sizin şifreniz</a:t>
            </a:r>
            <a:r>
              <a:rPr lang="tr-TR"/>
              <a:t>)</a:t>
            </a:r>
          </a:p>
        </p:txBody>
      </p:sp>
      <p:pic>
        <p:nvPicPr>
          <p:cNvPr id="5" name="Resim 4">
            <a:extLst>
              <a:ext uri="{FF2B5EF4-FFF2-40B4-BE49-F238E27FC236}">
                <a16:creationId xmlns:a16="http://schemas.microsoft.com/office/drawing/2014/main" id="{146DFD32-4833-828E-4F55-9C27A20CC1C1}"/>
              </a:ext>
            </a:extLst>
          </p:cNvPr>
          <p:cNvPicPr>
            <a:picLocks noChangeAspect="1"/>
          </p:cNvPicPr>
          <p:nvPr/>
        </p:nvPicPr>
        <p:blipFill>
          <a:blip r:embed="rId2"/>
          <a:stretch>
            <a:fillRect/>
          </a:stretch>
        </p:blipFill>
        <p:spPr>
          <a:xfrm>
            <a:off x="0" y="2025445"/>
            <a:ext cx="12192000" cy="4907918"/>
          </a:xfrm>
          <a:prstGeom prst="rect">
            <a:avLst/>
          </a:prstGeom>
        </p:spPr>
      </p:pic>
    </p:spTree>
    <p:extLst>
      <p:ext uri="{BB962C8B-B14F-4D97-AF65-F5344CB8AC3E}">
        <p14:creationId xmlns:p14="http://schemas.microsoft.com/office/powerpoint/2010/main" val="3799999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99EFC-0D1B-609E-EF00-E3281FD1EA7E}"/>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FB43EB4-3C1E-5FE1-6ED4-0F9219D294AE}"/>
              </a:ext>
            </a:extLst>
          </p:cNvPr>
          <p:cNvSpPr>
            <a:spLocks noGrp="1"/>
          </p:cNvSpPr>
          <p:nvPr>
            <p:ph idx="1"/>
          </p:nvPr>
        </p:nvSpPr>
        <p:spPr>
          <a:xfrm>
            <a:off x="1629338" y="0"/>
            <a:ext cx="10562662" cy="7098890"/>
          </a:xfrm>
        </p:spPr>
        <p:txBody>
          <a:bodyPr>
            <a:normAutofit fontScale="55000" lnSpcReduction="20000"/>
          </a:bodyPr>
          <a:lstStyle/>
          <a:p>
            <a:r>
              <a:rPr lang="tr-TR"/>
              <a:t>Aşağıdaki kodu </a:t>
            </a:r>
            <a:r>
              <a:rPr lang="tr-TR" b="1"/>
              <a:t>main</a:t>
            </a:r>
            <a:r>
              <a:rPr lang="tr-TR"/>
              <a:t>.</a:t>
            </a:r>
            <a:r>
              <a:rPr lang="tr-TR" b="1"/>
              <a:t>py</a:t>
            </a:r>
            <a:r>
              <a:rPr lang="tr-TR"/>
              <a:t> içerisine yazıyoruz</a:t>
            </a:r>
          </a:p>
          <a:p>
            <a:endParaRPr lang="tr-TR"/>
          </a:p>
          <a:p>
            <a:r>
              <a:rPr lang="tr-TR"/>
              <a:t>from fastapi import FastAPI, HTTPException</a:t>
            </a:r>
            <a:br>
              <a:rPr lang="tr-TR"/>
            </a:br>
            <a:r>
              <a:rPr lang="tr-TR"/>
              <a:t>from pydantic import BaseModel, EmailStr, Field</a:t>
            </a:r>
            <a:br>
              <a:rPr lang="tr-TR"/>
            </a:br>
            <a:r>
              <a:rPr lang="tr-TR"/>
              <a:t>import aiosmtplib</a:t>
            </a:r>
            <a:br>
              <a:rPr lang="tr-TR"/>
            </a:br>
            <a:r>
              <a:rPr lang="tr-TR"/>
              <a:t>from email.message import EmailMessage</a:t>
            </a:r>
            <a:br>
              <a:rPr lang="tr-TR"/>
            </a:br>
            <a:r>
              <a:rPr lang="tr-TR"/>
              <a:t>import os</a:t>
            </a:r>
            <a:br>
              <a:rPr lang="tr-TR"/>
            </a:br>
            <a:r>
              <a:rPr lang="tr-TR"/>
              <a:t>from dotenv import load_dotenv</a:t>
            </a:r>
            <a:br>
              <a:rPr lang="tr-TR"/>
            </a:br>
            <a:br>
              <a:rPr lang="tr-TR"/>
            </a:br>
            <a:r>
              <a:rPr lang="tr-TR"/>
              <a:t>load_dotenv()</a:t>
            </a:r>
            <a:br>
              <a:rPr lang="tr-TR"/>
            </a:br>
            <a:br>
              <a:rPr lang="tr-TR"/>
            </a:br>
            <a:r>
              <a:rPr lang="tr-TR"/>
              <a:t>MAIL_HOST = os.getenv("MAIL_HOST")</a:t>
            </a:r>
            <a:br>
              <a:rPr lang="tr-TR"/>
            </a:br>
            <a:r>
              <a:rPr lang="tr-TR"/>
              <a:t>MAIL_PORT = int(os.getenv("MAIL_PORT", "587"))</a:t>
            </a:r>
            <a:br>
              <a:rPr lang="tr-TR"/>
            </a:br>
            <a:r>
              <a:rPr lang="tr-TR"/>
              <a:t>MAIL_USER = os.getenv("MAIL_USER")</a:t>
            </a:r>
            <a:br>
              <a:rPr lang="tr-TR"/>
            </a:br>
            <a:r>
              <a:rPr lang="tr-TR"/>
              <a:t>MAIL_PASS = os.getenv("MAIL_PASS")</a:t>
            </a:r>
            <a:br>
              <a:rPr lang="tr-TR"/>
            </a:br>
            <a:br>
              <a:rPr lang="tr-TR"/>
            </a:br>
            <a:r>
              <a:rPr lang="tr-TR"/>
              <a:t>app = FastAPI()</a:t>
            </a:r>
            <a:br>
              <a:rPr lang="tr-TR"/>
            </a:br>
            <a:br>
              <a:rPr lang="tr-TR"/>
            </a:br>
            <a:br>
              <a:rPr lang="tr-TR"/>
            </a:br>
            <a:r>
              <a:rPr lang="tr-TR"/>
              <a:t>class MailRequest(BaseModel):</a:t>
            </a:r>
            <a:br>
              <a:rPr lang="tr-TR"/>
            </a:br>
            <a:r>
              <a:rPr lang="tr-TR"/>
              <a:t>    email: EmailStr</a:t>
            </a:r>
            <a:br>
              <a:rPr lang="tr-TR"/>
            </a:br>
            <a:r>
              <a:rPr lang="tr-TR"/>
              <a:t>    subject: str = Field(alias="başlık")</a:t>
            </a:r>
            <a:br>
              <a:rPr lang="tr-TR"/>
            </a:br>
            <a:r>
              <a:rPr lang="tr-TR"/>
              <a:t>    message: str = Field(alias="mesaj")</a:t>
            </a:r>
            <a:br>
              <a:rPr lang="tr-TR"/>
            </a:br>
            <a:br>
              <a:rPr lang="tr-TR"/>
            </a:br>
            <a:r>
              <a:rPr lang="tr-TR"/>
              <a:t>    class Config:</a:t>
            </a:r>
            <a:br>
              <a:rPr lang="tr-TR"/>
            </a:br>
            <a:r>
              <a:rPr lang="tr-TR"/>
              <a:t>        populate_by_name = True</a:t>
            </a:r>
            <a:br>
              <a:rPr lang="tr-TR"/>
            </a:br>
            <a:br>
              <a:rPr lang="tr-TR"/>
            </a:br>
            <a:r>
              <a:rPr lang="tr-TR"/>
              <a:t>@app.post("/send-mail")</a:t>
            </a:r>
            <a:br>
              <a:rPr lang="tr-TR"/>
            </a:br>
            <a:r>
              <a:rPr lang="tr-TR"/>
              <a:t>async def send_mail(req: MailRequest):</a:t>
            </a:r>
            <a:br>
              <a:rPr lang="tr-TR"/>
            </a:br>
            <a:r>
              <a:rPr lang="tr-TR"/>
              <a:t>    try:</a:t>
            </a:r>
            <a:br>
              <a:rPr lang="tr-TR"/>
            </a:br>
            <a:r>
              <a:rPr lang="tr-TR"/>
              <a:t>        msg = EmailMessage()</a:t>
            </a:r>
            <a:br>
              <a:rPr lang="tr-TR"/>
            </a:br>
            <a:r>
              <a:rPr lang="tr-TR"/>
              <a:t>        msg["From"] = MAIL_USER</a:t>
            </a:r>
            <a:br>
              <a:rPr lang="tr-TR"/>
            </a:br>
            <a:r>
              <a:rPr lang="tr-TR"/>
              <a:t>        msg["To"] = req.email</a:t>
            </a:r>
            <a:br>
              <a:rPr lang="tr-TR"/>
            </a:br>
            <a:r>
              <a:rPr lang="tr-TR"/>
              <a:t>        msg["Subject"] = req.subject</a:t>
            </a:r>
            <a:br>
              <a:rPr lang="tr-TR"/>
            </a:br>
            <a:r>
              <a:rPr lang="tr-TR"/>
              <a:t>        msg.set_content(req.message)</a:t>
            </a:r>
            <a:br>
              <a:rPr lang="tr-TR"/>
            </a:br>
            <a:br>
              <a:rPr lang="tr-TR"/>
            </a:br>
            <a:r>
              <a:rPr lang="tr-TR"/>
              <a:t>        await aiosmtplib.send(</a:t>
            </a:r>
            <a:br>
              <a:rPr lang="tr-TR"/>
            </a:br>
            <a:r>
              <a:rPr lang="tr-TR"/>
              <a:t>            msg,</a:t>
            </a:r>
            <a:br>
              <a:rPr lang="tr-TR"/>
            </a:br>
            <a:r>
              <a:rPr lang="tr-TR"/>
              <a:t>            hostname=MAIL_HOST,</a:t>
            </a:r>
            <a:br>
              <a:rPr lang="tr-TR"/>
            </a:br>
            <a:r>
              <a:rPr lang="tr-TR"/>
              <a:t>            port=MAIL_PORT,</a:t>
            </a:r>
            <a:br>
              <a:rPr lang="tr-TR"/>
            </a:br>
            <a:r>
              <a:rPr lang="tr-TR"/>
              <a:t>            username=MAIL_USER,</a:t>
            </a:r>
            <a:br>
              <a:rPr lang="tr-TR"/>
            </a:br>
            <a:r>
              <a:rPr lang="tr-TR"/>
              <a:t>            password=MAIL_PASS,</a:t>
            </a:r>
            <a:br>
              <a:rPr lang="tr-TR"/>
            </a:br>
            <a:r>
              <a:rPr lang="tr-TR"/>
              <a:t>            use_tls=False,</a:t>
            </a:r>
            <a:br>
              <a:rPr lang="tr-TR"/>
            </a:br>
            <a:r>
              <a:rPr lang="tr-TR"/>
              <a:t>            start_tls=True,</a:t>
            </a:r>
            <a:br>
              <a:rPr lang="tr-TR"/>
            </a:br>
            <a:r>
              <a:rPr lang="tr-TR"/>
              <a:t>        )</a:t>
            </a:r>
            <a:br>
              <a:rPr lang="tr-TR"/>
            </a:br>
            <a:br>
              <a:rPr lang="tr-TR"/>
            </a:br>
            <a:r>
              <a:rPr lang="tr-TR"/>
              <a:t>        return {"status": "ok", "message": "Mail gönderildi"}</a:t>
            </a:r>
            <a:br>
              <a:rPr lang="tr-TR"/>
            </a:br>
            <a:br>
              <a:rPr lang="tr-TR"/>
            </a:br>
            <a:r>
              <a:rPr lang="tr-TR"/>
              <a:t>    except Exception as e:</a:t>
            </a:r>
            <a:br>
              <a:rPr lang="tr-TR"/>
            </a:br>
            <a:r>
              <a:rPr lang="tr-TR"/>
              <a:t>        print("MAIL ERROR:", e)</a:t>
            </a:r>
            <a:br>
              <a:rPr lang="tr-TR"/>
            </a:br>
            <a:r>
              <a:rPr lang="tr-TR"/>
              <a:t>        raise HTTPException(status_code=500, detail=str(e))</a:t>
            </a:r>
            <a:br>
              <a:rPr lang="tr-TR"/>
            </a:br>
            <a:br>
              <a:rPr lang="tr-TR"/>
            </a:br>
            <a:endParaRPr lang="tr-TR"/>
          </a:p>
          <a:p>
            <a:endParaRPr lang="tr-TR"/>
          </a:p>
        </p:txBody>
      </p:sp>
    </p:spTree>
    <p:extLst>
      <p:ext uri="{BB962C8B-B14F-4D97-AF65-F5344CB8AC3E}">
        <p14:creationId xmlns:p14="http://schemas.microsoft.com/office/powerpoint/2010/main" val="34927662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C1E0D97-91CC-3825-0C91-6A08BCA870B7}"/>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62A7F8C0-5828-9539-E1BF-ACDFAE6AD43C}"/>
              </a:ext>
            </a:extLst>
          </p:cNvPr>
          <p:cNvSpPr>
            <a:spLocks noGrp="1"/>
          </p:cNvSpPr>
          <p:nvPr>
            <p:ph idx="1"/>
          </p:nvPr>
        </p:nvSpPr>
        <p:spPr/>
        <p:txBody>
          <a:bodyPr>
            <a:normAutofit fontScale="85000" lnSpcReduction="20000"/>
          </a:bodyPr>
          <a:lstStyle/>
          <a:p>
            <a:r>
              <a:rPr lang="tr-TR"/>
              <a:t>Eğer müşteri veya kullanıcı tablonuzda </a:t>
            </a:r>
            <a:r>
              <a:rPr lang="tr-TR" b="1"/>
              <a:t>email</a:t>
            </a:r>
            <a:r>
              <a:rPr lang="tr-TR"/>
              <a:t> alanı yoksa ekleyiniz.</a:t>
            </a:r>
          </a:p>
          <a:p>
            <a:endParaRPr lang="tr-TR"/>
          </a:p>
          <a:p>
            <a:r>
              <a:rPr lang="fr-FR"/>
              <a:t>@Column(name = "EMAIL", nullable = </a:t>
            </a:r>
            <a:r>
              <a:rPr lang="fr-FR" b="1"/>
              <a:t>false</a:t>
            </a:r>
            <a:r>
              <a:rPr lang="fr-FR"/>
              <a:t>, unique = </a:t>
            </a:r>
            <a:r>
              <a:rPr lang="fr-FR" b="1"/>
              <a:t>true</a:t>
            </a:r>
            <a:r>
              <a:rPr lang="fr-FR"/>
              <a:t>)</a:t>
            </a:r>
          </a:p>
          <a:p>
            <a:r>
              <a:rPr lang="fr-FR" b="1"/>
              <a:t>private</a:t>
            </a:r>
            <a:r>
              <a:rPr lang="fr-FR"/>
              <a:t> String email;</a:t>
            </a:r>
          </a:p>
          <a:p>
            <a:endParaRPr lang="tr-TR"/>
          </a:p>
          <a:p>
            <a:r>
              <a:rPr lang="tr-TR"/>
              <a:t> public String getEmail() {</a:t>
            </a:r>
          </a:p>
          <a:p>
            <a:r>
              <a:rPr lang="tr-TR"/>
              <a:t>        return email;</a:t>
            </a:r>
          </a:p>
          <a:p>
            <a:r>
              <a:rPr lang="tr-TR"/>
              <a:t>    }</a:t>
            </a:r>
          </a:p>
          <a:p>
            <a:endParaRPr lang="tr-TR"/>
          </a:p>
          <a:p>
            <a:r>
              <a:rPr lang="tr-TR"/>
              <a:t>    public void setEmail(String email) {</a:t>
            </a:r>
          </a:p>
          <a:p>
            <a:r>
              <a:rPr lang="tr-TR"/>
              <a:t>        this.email = email;</a:t>
            </a:r>
          </a:p>
          <a:p>
            <a:r>
              <a:rPr lang="tr-TR"/>
              <a:t>    }</a:t>
            </a:r>
          </a:p>
        </p:txBody>
      </p:sp>
    </p:spTree>
    <p:extLst>
      <p:ext uri="{BB962C8B-B14F-4D97-AF65-F5344CB8AC3E}">
        <p14:creationId xmlns:p14="http://schemas.microsoft.com/office/powerpoint/2010/main" val="1433508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BB3E76C-86B2-429D-AB2F-EE527B5C3315}"/>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1772707E-55EE-D95C-62CE-7F60CA47832C}"/>
              </a:ext>
            </a:extLst>
          </p:cNvPr>
          <p:cNvSpPr>
            <a:spLocks noGrp="1"/>
          </p:cNvSpPr>
          <p:nvPr>
            <p:ph idx="1"/>
          </p:nvPr>
        </p:nvSpPr>
        <p:spPr/>
        <p:txBody>
          <a:bodyPr>
            <a:normAutofit fontScale="92500" lnSpcReduction="20000"/>
          </a:bodyPr>
          <a:lstStyle/>
          <a:p>
            <a:r>
              <a:rPr lang="tr-TR"/>
              <a:t>application.properties dosyasında aşağıdaki satırı eklemişseniz MySQL’e otomatik eklenir</a:t>
            </a:r>
          </a:p>
          <a:p>
            <a:endParaRPr lang="tr-TR"/>
          </a:p>
          <a:p>
            <a:pPr lvl="1"/>
            <a:r>
              <a:rPr lang="tr-TR"/>
              <a:t>spring.jpa.hibernate.ddl-auto=update</a:t>
            </a:r>
          </a:p>
          <a:p>
            <a:endParaRPr lang="tr-TR"/>
          </a:p>
          <a:p>
            <a:r>
              <a:rPr lang="tr-TR"/>
              <a:t>Eğer yoksa manuel eklemeniz gerekmektedir</a:t>
            </a:r>
          </a:p>
          <a:p>
            <a:endParaRPr lang="tr-TR"/>
          </a:p>
          <a:p>
            <a:pPr lvl="1"/>
            <a:r>
              <a:rPr lang="tr-TR"/>
              <a:t>ALTER TABLE MUSTERI ADD EMAIL VARCHAR(255);</a:t>
            </a:r>
          </a:p>
          <a:p>
            <a:pPr lvl="1"/>
            <a:endParaRPr lang="tr-TR"/>
          </a:p>
          <a:p>
            <a:r>
              <a:rPr lang="tr-TR"/>
              <a:t>Ekledikten sonra kullanıcıların mail adresini, gerçek mail adresleri ile update etmeniz gerekmektedir, </a:t>
            </a:r>
            <a:r>
              <a:rPr lang="tr-TR">
                <a:hlinkClick r:id="rId2"/>
              </a:rPr>
              <a:t>huseyinvural02@gmail.com</a:t>
            </a:r>
            <a:r>
              <a:rPr lang="tr-TR"/>
              <a:t> mail adresi olan kullanıcıda ekleyiniz</a:t>
            </a:r>
          </a:p>
          <a:p>
            <a:pPr lvl="1"/>
            <a:endParaRPr lang="tr-TR"/>
          </a:p>
        </p:txBody>
      </p:sp>
    </p:spTree>
    <p:extLst>
      <p:ext uri="{BB962C8B-B14F-4D97-AF65-F5344CB8AC3E}">
        <p14:creationId xmlns:p14="http://schemas.microsoft.com/office/powerpoint/2010/main" val="2773422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94C6191-3019-116F-F052-922B48A4DBA8}"/>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5FB03E59-4FDD-1358-BBE1-A1D76E0E3482}"/>
              </a:ext>
            </a:extLst>
          </p:cNvPr>
          <p:cNvSpPr>
            <a:spLocks noGrp="1"/>
          </p:cNvSpPr>
          <p:nvPr>
            <p:ph idx="1"/>
          </p:nvPr>
        </p:nvSpPr>
        <p:spPr>
          <a:xfrm>
            <a:off x="2461393" y="1720645"/>
            <a:ext cx="8915400" cy="3777622"/>
          </a:xfrm>
        </p:spPr>
        <p:txBody>
          <a:bodyPr/>
          <a:lstStyle/>
          <a:p>
            <a:r>
              <a:rPr lang="tr-TR"/>
              <a:t>eKitapProjesi için mail gönderme işlemi ödeme tamamlanınca yapıldığı için bu sayfanın kodlarının bulunduğu </a:t>
            </a:r>
            <a:r>
              <a:rPr lang="tr-TR" b="1"/>
              <a:t>odeme</a:t>
            </a:r>
            <a:r>
              <a:rPr lang="tr-TR"/>
              <a:t>.</a:t>
            </a:r>
            <a:r>
              <a:rPr lang="tr-TR" b="1"/>
              <a:t>html</a:t>
            </a:r>
            <a:r>
              <a:rPr lang="tr-TR"/>
              <a:t> sayfasına gidiyoruz</a:t>
            </a:r>
          </a:p>
        </p:txBody>
      </p:sp>
      <p:pic>
        <p:nvPicPr>
          <p:cNvPr id="7" name="Resim 6">
            <a:extLst>
              <a:ext uri="{FF2B5EF4-FFF2-40B4-BE49-F238E27FC236}">
                <a16:creationId xmlns:a16="http://schemas.microsoft.com/office/drawing/2014/main" id="{70C2F77F-3366-A77B-F2BB-C530D37B773E}"/>
              </a:ext>
            </a:extLst>
          </p:cNvPr>
          <p:cNvPicPr>
            <a:picLocks noChangeAspect="1"/>
          </p:cNvPicPr>
          <p:nvPr/>
        </p:nvPicPr>
        <p:blipFill>
          <a:blip r:embed="rId2"/>
          <a:stretch>
            <a:fillRect/>
          </a:stretch>
        </p:blipFill>
        <p:spPr>
          <a:xfrm>
            <a:off x="506847" y="2408904"/>
            <a:ext cx="11178305" cy="4636518"/>
          </a:xfrm>
          <a:prstGeom prst="rect">
            <a:avLst/>
          </a:prstGeom>
        </p:spPr>
      </p:pic>
    </p:spTree>
    <p:extLst>
      <p:ext uri="{BB962C8B-B14F-4D97-AF65-F5344CB8AC3E}">
        <p14:creationId xmlns:p14="http://schemas.microsoft.com/office/powerpoint/2010/main" val="3495122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36AB3-8EC9-B3EF-4D3D-05BDAA137906}"/>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AE4DBCD-CF84-0190-8BF8-218C2DE2A000}"/>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EA6E32D0-FF32-FE50-969D-5D1791BD9D69}"/>
              </a:ext>
            </a:extLst>
          </p:cNvPr>
          <p:cNvSpPr>
            <a:spLocks noGrp="1"/>
          </p:cNvSpPr>
          <p:nvPr>
            <p:ph idx="1"/>
          </p:nvPr>
        </p:nvSpPr>
        <p:spPr>
          <a:xfrm>
            <a:off x="2461393" y="1720645"/>
            <a:ext cx="8915400" cy="3777622"/>
          </a:xfrm>
        </p:spPr>
        <p:txBody>
          <a:bodyPr>
            <a:normAutofit/>
          </a:bodyPr>
          <a:lstStyle/>
          <a:p>
            <a:r>
              <a:rPr lang="tr-TR"/>
              <a:t>Ödemeyi Tamamla butonu </a:t>
            </a:r>
            <a:r>
              <a:rPr lang="en-US" b="1"/>
              <a:t>/sepet</a:t>
            </a:r>
            <a:r>
              <a:rPr lang="tr-TR" b="1"/>
              <a:t>/odeme</a:t>
            </a:r>
            <a:r>
              <a:rPr lang="en-US" b="1"/>
              <a:t>/tamamla</a:t>
            </a:r>
            <a:r>
              <a:rPr lang="tr-TR" b="1"/>
              <a:t> </a:t>
            </a:r>
            <a:r>
              <a:rPr lang="tr-TR"/>
              <a:t>controller’ına yönlendirmekte dolayısıyla backend’de bu kısma gitmemiz gerekmektedir</a:t>
            </a:r>
          </a:p>
          <a:p>
            <a:endParaRPr lang="tr-TR"/>
          </a:p>
          <a:p>
            <a:r>
              <a:rPr lang="en-US"/>
              <a:t>&lt;form th:action="@{</a:t>
            </a:r>
            <a:r>
              <a:rPr lang="en-US" b="1"/>
              <a:t>/sepet</a:t>
            </a:r>
            <a:r>
              <a:rPr lang="tr-TR" b="1"/>
              <a:t>/odeme</a:t>
            </a:r>
            <a:r>
              <a:rPr lang="en-US" b="1"/>
              <a:t>/tamamla</a:t>
            </a:r>
            <a:r>
              <a:rPr lang="en-US"/>
              <a:t>}" th:object="${odeme}" method="post"&gt;</a:t>
            </a:r>
            <a:endParaRPr lang="tr-TR"/>
          </a:p>
          <a:p>
            <a:pPr lvl="1"/>
            <a:r>
              <a:rPr lang="tr-TR"/>
              <a:t>&lt;div class="form-group"&gt;</a:t>
            </a:r>
          </a:p>
          <a:p>
            <a:pPr lvl="1"/>
            <a:r>
              <a:rPr lang="tr-TR"/>
              <a:t>&lt;button type="submit" class="btn"&gt;Ödemeyi Tamamla&lt;/button&gt;</a:t>
            </a:r>
          </a:p>
          <a:p>
            <a:pPr lvl="1"/>
            <a:r>
              <a:rPr lang="tr-TR"/>
              <a:t>&lt;/div&gt;</a:t>
            </a:r>
          </a:p>
          <a:p>
            <a:r>
              <a:rPr lang="tr-TR"/>
              <a:t>&lt;/form&gt;</a:t>
            </a:r>
          </a:p>
          <a:p>
            <a:endParaRPr lang="tr-TR"/>
          </a:p>
        </p:txBody>
      </p:sp>
    </p:spTree>
    <p:extLst>
      <p:ext uri="{BB962C8B-B14F-4D97-AF65-F5344CB8AC3E}">
        <p14:creationId xmlns:p14="http://schemas.microsoft.com/office/powerpoint/2010/main" val="770662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AF5B9-609A-3D8D-91CB-92B8FF60C7A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44392D8-2A6F-B1F3-B026-054211830565}"/>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1408C867-F22C-05FD-EC5B-C3060A7DBF11}"/>
              </a:ext>
            </a:extLst>
          </p:cNvPr>
          <p:cNvSpPr>
            <a:spLocks noGrp="1"/>
          </p:cNvSpPr>
          <p:nvPr>
            <p:ph idx="1"/>
          </p:nvPr>
        </p:nvSpPr>
        <p:spPr>
          <a:xfrm>
            <a:off x="2461393" y="1720645"/>
            <a:ext cx="8915400" cy="3777622"/>
          </a:xfrm>
        </p:spPr>
        <p:txBody>
          <a:bodyPr>
            <a:normAutofit/>
          </a:bodyPr>
          <a:lstStyle/>
          <a:p>
            <a:r>
              <a:rPr lang="tr-TR" b="1"/>
              <a:t>SepetKontrol</a:t>
            </a:r>
            <a:r>
              <a:rPr lang="tr-TR"/>
              <a:t> sınıfı, @</a:t>
            </a:r>
            <a:r>
              <a:rPr lang="tr-TR" b="1"/>
              <a:t>Controller</a:t>
            </a:r>
            <a:r>
              <a:rPr lang="tr-TR"/>
              <a:t> ve @</a:t>
            </a:r>
            <a:r>
              <a:rPr lang="tr-TR" b="1"/>
              <a:t>RequestMapping("/sepet")</a:t>
            </a:r>
            <a:r>
              <a:rPr lang="tr-TR"/>
              <a:t> anotasyonları sayesinde /</a:t>
            </a:r>
            <a:r>
              <a:rPr lang="tr-TR" b="1"/>
              <a:t>sepet </a:t>
            </a:r>
            <a:r>
              <a:rPr lang="tr-TR"/>
              <a:t>adresine yapılan HTML POST isteklerini backend tarafında yakalayan controller’dır ve devamında </a:t>
            </a:r>
          </a:p>
          <a:p>
            <a:endParaRPr lang="tr-TR"/>
          </a:p>
          <a:p>
            <a:r>
              <a:rPr lang="en-US"/>
              <a:t>@Controller</a:t>
            </a:r>
          </a:p>
          <a:p>
            <a:r>
              <a:rPr lang="en-US"/>
              <a:t>@RequestMapping("/sepet")</a:t>
            </a:r>
          </a:p>
          <a:p>
            <a:r>
              <a:rPr lang="en-US"/>
              <a:t>public class SepetKontrol {</a:t>
            </a:r>
          </a:p>
          <a:p>
            <a:endParaRPr lang="tr-TR"/>
          </a:p>
        </p:txBody>
      </p:sp>
    </p:spTree>
    <p:extLst>
      <p:ext uri="{BB962C8B-B14F-4D97-AF65-F5344CB8AC3E}">
        <p14:creationId xmlns:p14="http://schemas.microsoft.com/office/powerpoint/2010/main" val="8408707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32958-D482-300C-E621-1923A156458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20B3210-63D4-1074-5674-9B3BC7ECA5BE}"/>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16E0492B-A9A5-01D7-62DA-F4B005B3FD43}"/>
              </a:ext>
            </a:extLst>
          </p:cNvPr>
          <p:cNvSpPr>
            <a:spLocks noGrp="1"/>
          </p:cNvSpPr>
          <p:nvPr>
            <p:ph idx="1"/>
          </p:nvPr>
        </p:nvSpPr>
        <p:spPr>
          <a:xfrm>
            <a:off x="2461393" y="1720645"/>
            <a:ext cx="8915400" cy="3777622"/>
          </a:xfrm>
        </p:spPr>
        <p:txBody>
          <a:bodyPr>
            <a:noAutofit/>
          </a:bodyPr>
          <a:lstStyle/>
          <a:p>
            <a:r>
              <a:rPr lang="tr-TR" sz="1600">
                <a:cs typeface="Times New Roman" panose="02020603050405020304" pitchFamily="18" charset="0"/>
              </a:rPr>
              <a:t>/sepet path’i ile birleşen @PostMapping(</a:t>
            </a:r>
            <a:r>
              <a:rPr lang="tr-TR" sz="1600">
                <a:latin typeface="+mj-lt"/>
                <a:cs typeface="Times New Roman" panose="02020603050405020304" pitchFamily="18" charset="0"/>
              </a:rPr>
              <a:t>/odeme/tamamla) anotasyonuna sahip </a:t>
            </a:r>
            <a:r>
              <a:rPr lang="tr-TR" sz="1600" b="1">
                <a:latin typeface="+mj-lt"/>
                <a:cs typeface="Times New Roman" panose="02020603050405020304" pitchFamily="18" charset="0"/>
              </a:rPr>
              <a:t>odemeTamamla</a:t>
            </a:r>
            <a:r>
              <a:rPr lang="tr-TR" sz="1600">
                <a:latin typeface="+mj-lt"/>
                <a:cs typeface="Times New Roman" panose="02020603050405020304" pitchFamily="18" charset="0"/>
              </a:rPr>
              <a:t> metodu </a:t>
            </a:r>
            <a:r>
              <a:rPr lang="en-US" sz="1600" b="1"/>
              <a:t>/sepet</a:t>
            </a:r>
            <a:r>
              <a:rPr lang="tr-TR" sz="1600" b="1"/>
              <a:t>/odeme</a:t>
            </a:r>
            <a:r>
              <a:rPr lang="en-US" sz="1600" b="1"/>
              <a:t>/tamamla</a:t>
            </a:r>
            <a:r>
              <a:rPr lang="tr-TR" sz="1600">
                <a:latin typeface="+mj-lt"/>
                <a:cs typeface="Times New Roman" panose="02020603050405020304" pitchFamily="18" charset="0"/>
              </a:rPr>
              <a:t> adresine yapılan html POST isteğini karşılayan asıl backend metodudur ve bu metod içerisinden çağrılan </a:t>
            </a:r>
            <a:r>
              <a:rPr lang="tr-TR" sz="1600" b="1">
                <a:latin typeface="+mj-lt"/>
                <a:cs typeface="Times New Roman" panose="02020603050405020304" pitchFamily="18" charset="0"/>
              </a:rPr>
              <a:t>SiparisServisi</a:t>
            </a:r>
            <a:r>
              <a:rPr lang="tr-TR" sz="1600">
                <a:latin typeface="+mj-lt"/>
                <a:cs typeface="Times New Roman" panose="02020603050405020304" pitchFamily="18" charset="0"/>
              </a:rPr>
              <a:t> sınıfındaki (aynı isimdeki) </a:t>
            </a:r>
            <a:r>
              <a:rPr lang="tr-TR" sz="1600" b="1">
                <a:latin typeface="+mj-lt"/>
                <a:cs typeface="Times New Roman" panose="02020603050405020304" pitchFamily="18" charset="0"/>
              </a:rPr>
              <a:t>odemeTamamla</a:t>
            </a:r>
            <a:r>
              <a:rPr lang="tr-TR" sz="1600">
                <a:latin typeface="+mj-lt"/>
                <a:cs typeface="Times New Roman" panose="02020603050405020304" pitchFamily="18" charset="0"/>
              </a:rPr>
              <a:t> metodu ise mail gönderme bilgilerini eklediğimiz metoddur</a:t>
            </a:r>
          </a:p>
          <a:p>
            <a:endParaRPr lang="tr-TR" sz="1000">
              <a:latin typeface="+mj-lt"/>
              <a:cs typeface="Times New Roman" panose="02020603050405020304" pitchFamily="18" charset="0"/>
            </a:endParaRPr>
          </a:p>
          <a:p>
            <a:r>
              <a:rPr lang="tr-TR" sz="1400">
                <a:latin typeface="+mj-lt"/>
                <a:cs typeface="Times New Roman" panose="02020603050405020304" pitchFamily="18" charset="0"/>
              </a:rPr>
              <a:t>@PostMapping("/odeme/tamamla")</a:t>
            </a:r>
          </a:p>
          <a:p>
            <a:r>
              <a:rPr lang="tr-TR" sz="1400">
                <a:latin typeface="+mj-lt"/>
                <a:cs typeface="Times New Roman" panose="02020603050405020304" pitchFamily="18" charset="0"/>
              </a:rPr>
              <a:t>public String odemeTamamla(@AuthenticationPrincipal Musteri musteri, @ModelAttribute OdemeBaslatDTO odeme, Model model) {</a:t>
            </a:r>
          </a:p>
          <a:p>
            <a:pPr lvl="1"/>
            <a:r>
              <a:rPr lang="tr-TR" sz="1400" b="1">
                <a:latin typeface="+mj-lt"/>
                <a:cs typeface="Times New Roman" panose="02020603050405020304" pitchFamily="18" charset="0"/>
              </a:rPr>
              <a:t>if</a:t>
            </a:r>
            <a:r>
              <a:rPr lang="tr-TR" sz="1400">
                <a:latin typeface="+mj-lt"/>
                <a:cs typeface="Times New Roman" panose="02020603050405020304" pitchFamily="18" charset="0"/>
              </a:rPr>
              <a:t> (musteri == </a:t>
            </a:r>
            <a:r>
              <a:rPr lang="tr-TR" sz="1400" b="1">
                <a:latin typeface="+mj-lt"/>
                <a:cs typeface="Times New Roman" panose="02020603050405020304" pitchFamily="18" charset="0"/>
              </a:rPr>
              <a:t>null</a:t>
            </a:r>
            <a:r>
              <a:rPr lang="tr-TR" sz="1400">
                <a:latin typeface="+mj-lt"/>
                <a:cs typeface="Times New Roman" panose="02020603050405020304" pitchFamily="18" charset="0"/>
              </a:rPr>
              <a:t>) {</a:t>
            </a:r>
          </a:p>
          <a:p>
            <a:pPr lvl="1"/>
            <a:r>
              <a:rPr lang="tr-TR" sz="1400" b="1">
                <a:latin typeface="+mj-lt"/>
                <a:cs typeface="Times New Roman" panose="02020603050405020304" pitchFamily="18" charset="0"/>
              </a:rPr>
              <a:t>return</a:t>
            </a:r>
            <a:r>
              <a:rPr lang="tr-TR" sz="1400">
                <a:latin typeface="+mj-lt"/>
                <a:cs typeface="Times New Roman" panose="02020603050405020304" pitchFamily="18" charset="0"/>
              </a:rPr>
              <a:t> "redirect:/login";</a:t>
            </a:r>
          </a:p>
          <a:p>
            <a:pPr lvl="1"/>
            <a:r>
              <a:rPr lang="tr-TR" sz="1400">
                <a:latin typeface="+mj-lt"/>
                <a:cs typeface="Times New Roman" panose="02020603050405020304" pitchFamily="18" charset="0"/>
              </a:rPr>
              <a:t>}</a:t>
            </a:r>
          </a:p>
          <a:p>
            <a:pPr lvl="1"/>
            <a:r>
              <a:rPr lang="tr-TR" sz="1200">
                <a:latin typeface="+mj-lt"/>
                <a:cs typeface="Times New Roman" panose="02020603050405020304" pitchFamily="18" charset="0"/>
              </a:rPr>
              <a:t>siparisServisi.odemeBaslat(musteri.getUsername());</a:t>
            </a:r>
          </a:p>
          <a:p>
            <a:pPr lvl="1"/>
            <a:r>
              <a:rPr lang="tr-TR" sz="1200">
                <a:latin typeface="+mj-lt"/>
                <a:cs typeface="Times New Roman" panose="02020603050405020304" pitchFamily="18" charset="0"/>
              </a:rPr>
              <a:t>siparisServisi.odemeTamamla(musteri.getUsername());</a:t>
            </a:r>
          </a:p>
          <a:p>
            <a:pPr lvl="1"/>
            <a:r>
              <a:rPr lang="tr-TR" sz="1200">
                <a:latin typeface="+mj-lt"/>
                <a:cs typeface="Times New Roman" panose="02020603050405020304" pitchFamily="18" charset="0"/>
              </a:rPr>
              <a:t>model.addAttribute("kullanici", musteri);</a:t>
            </a:r>
          </a:p>
          <a:p>
            <a:pPr lvl="1"/>
            <a:r>
              <a:rPr lang="tr-TR" sz="1200">
                <a:latin typeface="+mj-lt"/>
                <a:cs typeface="Times New Roman" panose="02020603050405020304" pitchFamily="18" charset="0"/>
              </a:rPr>
              <a:t>model.addAttribute("mesaj", "Ödemeniz başarıyla alındı ve sepetiniz boşaltıldı.");</a:t>
            </a:r>
          </a:p>
          <a:p>
            <a:r>
              <a:rPr lang="tr-TR" sz="1400" b="1">
                <a:latin typeface="+mj-lt"/>
                <a:cs typeface="Times New Roman" panose="02020603050405020304" pitchFamily="18" charset="0"/>
              </a:rPr>
              <a:t>return</a:t>
            </a:r>
            <a:r>
              <a:rPr lang="tr-TR" sz="1400">
                <a:latin typeface="+mj-lt"/>
                <a:cs typeface="Times New Roman" panose="02020603050405020304" pitchFamily="18" charset="0"/>
              </a:rPr>
              <a:t> "redirect:/siparis";</a:t>
            </a:r>
          </a:p>
          <a:p>
            <a:r>
              <a:rPr lang="tr-TR" sz="1400">
                <a:latin typeface="+mj-lt"/>
                <a:cs typeface="Times New Roman" panose="02020603050405020304" pitchFamily="18" charset="0"/>
              </a:rPr>
              <a:t>}</a:t>
            </a:r>
          </a:p>
          <a:p>
            <a:endParaRPr lang="tr-TR" sz="1000">
              <a:latin typeface="+mj-lt"/>
              <a:cs typeface="Times New Roman" panose="02020603050405020304" pitchFamily="18" charset="0"/>
            </a:endParaRPr>
          </a:p>
        </p:txBody>
      </p:sp>
    </p:spTree>
    <p:extLst>
      <p:ext uri="{BB962C8B-B14F-4D97-AF65-F5344CB8AC3E}">
        <p14:creationId xmlns:p14="http://schemas.microsoft.com/office/powerpoint/2010/main" val="1769456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51F01-085B-6820-CCCA-05578447523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3C0B575-D09B-F0B0-0AFE-5D1C145226DE}"/>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564D895F-CE72-76C4-66F5-96E701489DA5}"/>
              </a:ext>
            </a:extLst>
          </p:cNvPr>
          <p:cNvSpPr>
            <a:spLocks noGrp="1"/>
          </p:cNvSpPr>
          <p:nvPr>
            <p:ph idx="1"/>
          </p:nvPr>
        </p:nvSpPr>
        <p:spPr>
          <a:xfrm>
            <a:off x="2461393" y="1720645"/>
            <a:ext cx="8915400" cy="3777622"/>
          </a:xfrm>
        </p:spPr>
        <p:txBody>
          <a:bodyPr>
            <a:noAutofit/>
          </a:bodyPr>
          <a:lstStyle/>
          <a:p>
            <a:r>
              <a:rPr lang="tr-TR" sz="1000"/>
              <a:t>SiparisServisi sınıfında bulunan odemeTamamla metodu</a:t>
            </a:r>
          </a:p>
          <a:p>
            <a:endParaRPr lang="tr-TR" sz="1000"/>
          </a:p>
          <a:p>
            <a:r>
              <a:rPr lang="tr-TR" sz="1000"/>
              <a:t>@Transactional</a:t>
            </a:r>
          </a:p>
          <a:p>
            <a:r>
              <a:rPr lang="tr-TR" sz="1000"/>
              <a:t>public Siparis odemeTamamla(String musteriKullaniciAdi) {</a:t>
            </a:r>
          </a:p>
          <a:p>
            <a:pPr lvl="1"/>
            <a:r>
              <a:rPr lang="tr-TR" sz="1000"/>
              <a:t>Siparis s = aktifSepetGetir(musteriKullaniciAdi);</a:t>
            </a:r>
            <a:br>
              <a:rPr lang="tr-TR" sz="1000"/>
            </a:br>
            <a:endParaRPr lang="tr-TR" sz="1000"/>
          </a:p>
          <a:p>
            <a:pPr lvl="1"/>
            <a:r>
              <a:rPr lang="tr-TR" sz="1000" b="1"/>
              <a:t>if</a:t>
            </a:r>
            <a:r>
              <a:rPr lang="tr-TR" sz="1000"/>
              <a:t> (s.getDurum() == SiparisDurumu.SEPET) {</a:t>
            </a:r>
          </a:p>
          <a:p>
            <a:pPr lvl="1"/>
            <a:r>
              <a:rPr lang="tr-TR" sz="1000"/>
              <a:t>s.setDurum(SiparisDurumu.ODEME);</a:t>
            </a:r>
          </a:p>
          <a:p>
            <a:pPr lvl="1"/>
            <a:r>
              <a:rPr lang="tr-TR" sz="1000"/>
              <a:t>} </a:t>
            </a:r>
          </a:p>
          <a:p>
            <a:pPr lvl="1"/>
            <a:br>
              <a:rPr lang="tr-TR" sz="1000"/>
            </a:br>
            <a:r>
              <a:rPr lang="tr-TR" sz="1000"/>
              <a:t>//</a:t>
            </a:r>
            <a:r>
              <a:rPr lang="tr-TR" sz="1000" u="sng"/>
              <a:t>stok</a:t>
            </a:r>
            <a:r>
              <a:rPr lang="tr-TR" sz="1000"/>
              <a:t> </a:t>
            </a:r>
            <a:r>
              <a:rPr lang="tr-TR" sz="1000" u="sng"/>
              <a:t>yeterli</a:t>
            </a:r>
            <a:r>
              <a:rPr lang="tr-TR" sz="1000"/>
              <a:t> </a:t>
            </a:r>
            <a:r>
              <a:rPr lang="tr-TR" sz="1000" u="sng"/>
              <a:t>mi</a:t>
            </a:r>
            <a:endParaRPr lang="tr-TR" sz="1000"/>
          </a:p>
          <a:p>
            <a:pPr lvl="1"/>
            <a:r>
              <a:rPr lang="tr-TR" sz="1000" b="1"/>
              <a:t>for</a:t>
            </a:r>
            <a:r>
              <a:rPr lang="tr-TR" sz="1000"/>
              <a:t> (SiparisUrunu u : s.getUrunler()) {</a:t>
            </a:r>
          </a:p>
          <a:p>
            <a:pPr lvl="2"/>
            <a:r>
              <a:rPr lang="tr-TR" sz="1000"/>
              <a:t>Kitap kitap = kitapDeposu.findById(u.getKitap().getId())</a:t>
            </a:r>
          </a:p>
          <a:p>
            <a:pPr lvl="3"/>
            <a:r>
              <a:rPr lang="tr-TR" sz="800"/>
              <a:t>.orElseThrow(() -&gt; </a:t>
            </a:r>
            <a:r>
              <a:rPr lang="tr-TR" sz="800" b="1"/>
              <a:t>new</a:t>
            </a:r>
            <a:r>
              <a:rPr lang="tr-TR" sz="800"/>
              <a:t> IllegalArgumentException("Kitap bulunamadı"));</a:t>
            </a:r>
          </a:p>
          <a:p>
            <a:pPr lvl="2"/>
            <a:r>
              <a:rPr lang="tr-TR" sz="1000" b="1"/>
              <a:t>if</a:t>
            </a:r>
            <a:r>
              <a:rPr lang="tr-TR" sz="1000"/>
              <a:t> (kitap.getStok() &lt; u.getAdet()) {</a:t>
            </a:r>
          </a:p>
          <a:p>
            <a:pPr lvl="3"/>
            <a:r>
              <a:rPr lang="tr-TR" sz="800" b="1"/>
              <a:t>throw</a:t>
            </a:r>
            <a:r>
              <a:rPr lang="tr-TR" sz="800"/>
              <a:t> </a:t>
            </a:r>
            <a:r>
              <a:rPr lang="tr-TR" sz="800" b="1"/>
              <a:t>new</a:t>
            </a:r>
            <a:r>
              <a:rPr lang="tr-TR" sz="800"/>
              <a:t> IllegalArgumentException("Stok yetersiz: " + kitap.getBaslik());</a:t>
            </a:r>
          </a:p>
          <a:p>
            <a:pPr lvl="2"/>
            <a:r>
              <a:rPr lang="tr-TR" sz="1000"/>
              <a:t>}</a:t>
            </a:r>
          </a:p>
          <a:p>
            <a:r>
              <a:rPr lang="tr-TR" sz="1000"/>
              <a:t>}</a:t>
            </a:r>
          </a:p>
          <a:p>
            <a:br>
              <a:rPr lang="tr-TR" sz="1000"/>
            </a:br>
            <a:endParaRPr lang="tr-TR" sz="1000"/>
          </a:p>
        </p:txBody>
      </p:sp>
    </p:spTree>
    <p:extLst>
      <p:ext uri="{BB962C8B-B14F-4D97-AF65-F5344CB8AC3E}">
        <p14:creationId xmlns:p14="http://schemas.microsoft.com/office/powerpoint/2010/main" val="1553823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1B639-8B79-93D9-1C1E-CB1950A5CF3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6BB8126-B7E1-9CD3-3F99-D441269870DC}"/>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1CAC09FE-B86E-D55C-66F9-F89F0ED51524}"/>
              </a:ext>
            </a:extLst>
          </p:cNvPr>
          <p:cNvSpPr>
            <a:spLocks noGrp="1"/>
          </p:cNvSpPr>
          <p:nvPr>
            <p:ph idx="1"/>
          </p:nvPr>
        </p:nvSpPr>
        <p:spPr>
          <a:xfrm>
            <a:off x="2461393" y="1720645"/>
            <a:ext cx="8915400" cy="3777622"/>
          </a:xfrm>
        </p:spPr>
        <p:txBody>
          <a:bodyPr>
            <a:noAutofit/>
          </a:bodyPr>
          <a:lstStyle/>
          <a:p>
            <a:r>
              <a:rPr lang="tr-TR" b="1"/>
              <a:t>SiparisServisi</a:t>
            </a:r>
            <a:r>
              <a:rPr lang="tr-TR"/>
              <a:t> sınıfında bulunan </a:t>
            </a:r>
            <a:r>
              <a:rPr lang="tr-TR" b="1"/>
              <a:t>odemeTamamla</a:t>
            </a:r>
            <a:r>
              <a:rPr lang="tr-TR"/>
              <a:t> metodu devamı</a:t>
            </a:r>
          </a:p>
          <a:p>
            <a:endParaRPr lang="tr-TR" sz="1000"/>
          </a:p>
          <a:p>
            <a:r>
              <a:rPr lang="tr-TR"/>
              <a:t>//</a:t>
            </a:r>
            <a:r>
              <a:rPr lang="tr-TR" u="sng"/>
              <a:t>stok</a:t>
            </a:r>
            <a:r>
              <a:rPr lang="tr-TR"/>
              <a:t> </a:t>
            </a:r>
            <a:r>
              <a:rPr lang="tr-TR" u="sng"/>
              <a:t>yeterliyse</a:t>
            </a:r>
            <a:r>
              <a:rPr lang="tr-TR"/>
              <a:t> </a:t>
            </a:r>
            <a:r>
              <a:rPr lang="tr-TR" u="sng"/>
              <a:t>stoktan</a:t>
            </a:r>
            <a:r>
              <a:rPr lang="tr-TR"/>
              <a:t> </a:t>
            </a:r>
            <a:r>
              <a:rPr lang="tr-TR" u="sng"/>
              <a:t>düşür</a:t>
            </a:r>
            <a:r>
              <a:rPr lang="tr-TR"/>
              <a:t>.</a:t>
            </a:r>
          </a:p>
          <a:p>
            <a:r>
              <a:rPr lang="tr-TR" b="1"/>
              <a:t>for</a:t>
            </a:r>
            <a:r>
              <a:rPr lang="tr-TR"/>
              <a:t> (SiparisUrunu u : s.getUrunler()) {</a:t>
            </a:r>
          </a:p>
          <a:p>
            <a:pPr lvl="1"/>
            <a:r>
              <a:rPr lang="tr-TR"/>
              <a:t>Kitap kitap = kitapDeposu.findById(u.getKitap().getId())</a:t>
            </a:r>
          </a:p>
          <a:p>
            <a:pPr lvl="2"/>
            <a:r>
              <a:rPr lang="tr-TR"/>
              <a:t>.orElseThrow(() -&gt; </a:t>
            </a:r>
            <a:r>
              <a:rPr lang="tr-TR" b="1"/>
              <a:t>new</a:t>
            </a:r>
            <a:r>
              <a:rPr lang="tr-TR"/>
              <a:t> IllegalArgumentException("Kitap bulunamadı"));</a:t>
            </a:r>
          </a:p>
          <a:p>
            <a:pPr lvl="1"/>
            <a:r>
              <a:rPr lang="tr-TR"/>
              <a:t>kitap.setStok(kitap.getStok() - u.getAdet());</a:t>
            </a:r>
          </a:p>
          <a:p>
            <a:r>
              <a:rPr lang="tr-TR"/>
              <a:t>}</a:t>
            </a:r>
          </a:p>
          <a:p>
            <a:endParaRPr lang="tr-TR"/>
          </a:p>
          <a:p>
            <a:r>
              <a:rPr lang="tr-TR"/>
              <a:t>s.setDurum(SiparisDurumu.YENI);</a:t>
            </a:r>
          </a:p>
          <a:p>
            <a:r>
              <a:rPr lang="tr-TR"/>
              <a:t>s.getUrunler().clear();</a:t>
            </a:r>
          </a:p>
          <a:p>
            <a:pPr marL="0" indent="0">
              <a:buNone/>
            </a:pPr>
            <a:br>
              <a:rPr lang="tr-TR" sz="1000"/>
            </a:br>
            <a:endParaRPr lang="tr-TR" sz="1000"/>
          </a:p>
        </p:txBody>
      </p:sp>
    </p:spTree>
    <p:extLst>
      <p:ext uri="{BB962C8B-B14F-4D97-AF65-F5344CB8AC3E}">
        <p14:creationId xmlns:p14="http://schemas.microsoft.com/office/powerpoint/2010/main" val="16198082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295B8-B15E-A6F5-F401-C0BECEB62031}"/>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B5A84BC-C3C0-0A1E-E602-A6A3F29A1E6B}"/>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7DB81F9B-C26D-2606-7788-F1D180E35B0E}"/>
              </a:ext>
            </a:extLst>
          </p:cNvPr>
          <p:cNvSpPr>
            <a:spLocks noGrp="1"/>
          </p:cNvSpPr>
          <p:nvPr>
            <p:ph idx="1"/>
          </p:nvPr>
        </p:nvSpPr>
        <p:spPr>
          <a:xfrm>
            <a:off x="2461393" y="1720645"/>
            <a:ext cx="8915400" cy="3777622"/>
          </a:xfrm>
        </p:spPr>
        <p:txBody>
          <a:bodyPr>
            <a:noAutofit/>
          </a:bodyPr>
          <a:lstStyle/>
          <a:p>
            <a:r>
              <a:rPr lang="tr-TR" b="1"/>
              <a:t>SiparisServisi</a:t>
            </a:r>
            <a:r>
              <a:rPr lang="tr-TR"/>
              <a:t> sınıfında bulunan </a:t>
            </a:r>
            <a:r>
              <a:rPr lang="tr-TR" b="1"/>
              <a:t>odemeTamamla</a:t>
            </a:r>
            <a:r>
              <a:rPr lang="tr-TR"/>
              <a:t> metodu devamında mail gönderme kısmını eklediğimiz yer, sizin alacağını kod kısmı bu kısım ve ayrıca </a:t>
            </a:r>
            <a:r>
              <a:rPr lang="tr-TR" b="1"/>
              <a:t>MailServisi</a:t>
            </a:r>
            <a:r>
              <a:rPr lang="tr-TR"/>
              <a:t> sınıfında bulunan </a:t>
            </a:r>
            <a:r>
              <a:rPr lang="tr-TR" b="1"/>
              <a:t>mailGonder</a:t>
            </a:r>
            <a:r>
              <a:rPr lang="tr-TR"/>
              <a:t> metodu çağrıldığı için </a:t>
            </a:r>
            <a:r>
              <a:rPr lang="tr-TR" b="1"/>
              <a:t>MailServisi</a:t>
            </a:r>
            <a:r>
              <a:rPr lang="tr-TR"/>
              <a:t> sınıfını ekleyecez</a:t>
            </a:r>
          </a:p>
          <a:p>
            <a:endParaRPr lang="tr-TR" sz="1000"/>
          </a:p>
          <a:p>
            <a:pPr lvl="1"/>
            <a:r>
              <a:rPr lang="tr-TR" sz="1800"/>
              <a:t>//mail </a:t>
            </a:r>
            <a:r>
              <a:rPr lang="tr-TR" sz="1800" u="sng"/>
              <a:t>gönderme</a:t>
            </a:r>
            <a:r>
              <a:rPr lang="tr-TR" sz="1800"/>
              <a:t> </a:t>
            </a:r>
            <a:r>
              <a:rPr lang="tr-TR" sz="1800" u="sng"/>
              <a:t>kısmı</a:t>
            </a:r>
            <a:endParaRPr lang="tr-TR" sz="1800"/>
          </a:p>
          <a:p>
            <a:pPr lvl="1"/>
            <a:r>
              <a:rPr lang="tr-TR" sz="1800"/>
              <a:t>String email = s.getMusteri().getEmail();</a:t>
            </a:r>
          </a:p>
          <a:p>
            <a:pPr lvl="1"/>
            <a:r>
              <a:rPr lang="tr-TR" sz="1800"/>
              <a:t>String baslik = "Siparişiniz Alındı";</a:t>
            </a:r>
          </a:p>
          <a:p>
            <a:pPr lvl="1"/>
            <a:r>
              <a:rPr lang="tr-TR" sz="1800"/>
              <a:t>String mesaj = </a:t>
            </a:r>
          </a:p>
          <a:p>
            <a:pPr lvl="2"/>
            <a:r>
              <a:rPr lang="tr-TR" sz="1600"/>
              <a:t>"Sayın" + s.getMusteri().getAdSoyad() + ",\n\n" +</a:t>
            </a:r>
          </a:p>
          <a:p>
            <a:pPr lvl="2"/>
            <a:r>
              <a:rPr lang="tr-TR" sz="1600"/>
              <a:t>"Siparişiniz başarıyla tamamlanmıştır. \n" +</a:t>
            </a:r>
          </a:p>
          <a:p>
            <a:pPr lvl="2"/>
            <a:r>
              <a:rPr lang="tr-TR" sz="1600"/>
              <a:t>"Toplam Tutar:" + s.getGenelToplam() + "TL\n\n" +</a:t>
            </a:r>
          </a:p>
          <a:p>
            <a:pPr lvl="2"/>
            <a:r>
              <a:rPr lang="tr-TR" sz="1600"/>
              <a:t>"İyi günler dileriz.";</a:t>
            </a:r>
          </a:p>
          <a:p>
            <a:pPr lvl="1"/>
            <a:r>
              <a:rPr lang="tr-TR" sz="1800"/>
              <a:t>mailServisi.mailGonder(email, baslik, mesaj);</a:t>
            </a:r>
          </a:p>
          <a:p>
            <a:endParaRPr lang="tr-TR" sz="1600"/>
          </a:p>
        </p:txBody>
      </p:sp>
    </p:spTree>
    <p:extLst>
      <p:ext uri="{BB962C8B-B14F-4D97-AF65-F5344CB8AC3E}">
        <p14:creationId xmlns:p14="http://schemas.microsoft.com/office/powerpoint/2010/main" val="282328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4E73E-A6DB-8158-9F5F-96A497DDD8E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FC28197-A590-A2A7-C3D6-394DE2B78105}"/>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D03886F7-4D7F-CC46-377F-8D0A30BA1009}"/>
              </a:ext>
            </a:extLst>
          </p:cNvPr>
          <p:cNvSpPr>
            <a:spLocks noGrp="1"/>
          </p:cNvSpPr>
          <p:nvPr>
            <p:ph idx="1"/>
          </p:nvPr>
        </p:nvSpPr>
        <p:spPr>
          <a:xfrm>
            <a:off x="2461393" y="1720645"/>
            <a:ext cx="8915400" cy="3777622"/>
          </a:xfrm>
        </p:spPr>
        <p:txBody>
          <a:bodyPr>
            <a:noAutofit/>
          </a:bodyPr>
          <a:lstStyle/>
          <a:p>
            <a:r>
              <a:rPr lang="tr-TR"/>
              <a:t>SiparisServisi sınıfında bulunan odemeTamamla metodu son kısım</a:t>
            </a:r>
            <a:endParaRPr lang="tr-TR" sz="1000"/>
          </a:p>
          <a:p>
            <a:endParaRPr lang="tr-TR" b="1"/>
          </a:p>
          <a:p>
            <a:r>
              <a:rPr lang="tr-TR" b="1"/>
              <a:t>return</a:t>
            </a:r>
            <a:r>
              <a:rPr lang="tr-TR"/>
              <a:t> siparisDeposu.save(s);</a:t>
            </a:r>
          </a:p>
          <a:p>
            <a:r>
              <a:rPr lang="tr-TR"/>
              <a:t>}</a:t>
            </a:r>
          </a:p>
          <a:p>
            <a:endParaRPr lang="tr-TR" sz="1600"/>
          </a:p>
        </p:txBody>
      </p:sp>
    </p:spTree>
    <p:extLst>
      <p:ext uri="{BB962C8B-B14F-4D97-AF65-F5344CB8AC3E}">
        <p14:creationId xmlns:p14="http://schemas.microsoft.com/office/powerpoint/2010/main" val="5573143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E8A25-EDBB-4EF6-FE14-4C5D3C28955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2BDE450-856B-4F39-7AD5-B91ABEF888B7}"/>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A0D8DD08-CB7A-1E6E-02C5-B8BFD4911D1A}"/>
              </a:ext>
            </a:extLst>
          </p:cNvPr>
          <p:cNvSpPr>
            <a:spLocks noGrp="1"/>
          </p:cNvSpPr>
          <p:nvPr>
            <p:ph idx="1"/>
          </p:nvPr>
        </p:nvSpPr>
        <p:spPr>
          <a:xfrm>
            <a:off x="2461393" y="1720645"/>
            <a:ext cx="8915400" cy="3777622"/>
          </a:xfrm>
        </p:spPr>
        <p:txBody>
          <a:bodyPr>
            <a:noAutofit/>
          </a:bodyPr>
          <a:lstStyle/>
          <a:p>
            <a:r>
              <a:rPr lang="tr-TR"/>
              <a:t>SiparisServisi sınıfında mailGonder metodunu çağırırken eklediğimiz paremetre değerlerini </a:t>
            </a:r>
            <a:r>
              <a:rPr lang="tr-TR" b="1"/>
              <a:t>MailDTO</a:t>
            </a:r>
            <a:r>
              <a:rPr lang="tr-TR"/>
              <a:t> sınıfından oluşturulan </a:t>
            </a:r>
            <a:r>
              <a:rPr lang="tr-TR" b="1"/>
              <a:t>dto</a:t>
            </a:r>
            <a:r>
              <a:rPr lang="tr-TR"/>
              <a:t> nesnesine aktarıyoruz. </a:t>
            </a:r>
            <a:r>
              <a:rPr lang="tr-TR" b="1"/>
              <a:t>dto</a:t>
            </a:r>
            <a:r>
              <a:rPr lang="tr-TR"/>
              <a:t> nesnesine aktarmamızın sebebi verileri tek bir nesnede toplamaktır bu nedenle </a:t>
            </a:r>
            <a:r>
              <a:rPr lang="tr-TR" b="1"/>
              <a:t>dto</a:t>
            </a:r>
            <a:r>
              <a:rPr lang="tr-TR"/>
              <a:t> sınıflarımızın bulunduğu katmanda </a:t>
            </a:r>
            <a:r>
              <a:rPr lang="tr-TR" b="1"/>
              <a:t>MailDTO</a:t>
            </a:r>
            <a:r>
              <a:rPr lang="tr-TR"/>
              <a:t> sınıfını ekliyoruz.</a:t>
            </a:r>
            <a:endParaRPr lang="tr-TR" sz="1000"/>
          </a:p>
          <a:p>
            <a:endParaRPr lang="tr-TR" b="1"/>
          </a:p>
          <a:p>
            <a:r>
              <a:rPr lang="tr-TR" b="1"/>
              <a:t>package</a:t>
            </a:r>
            <a:r>
              <a:rPr lang="tr-TR"/>
              <a:t> com.ornek.kitapliste.dto;</a:t>
            </a:r>
          </a:p>
          <a:p>
            <a:pPr lvl="1"/>
            <a:r>
              <a:rPr lang="tr-TR"/>
              <a:t>public class MailDTO {</a:t>
            </a:r>
          </a:p>
          <a:p>
            <a:pPr lvl="2"/>
            <a:r>
              <a:rPr lang="tr-TR"/>
              <a:t>private String email;</a:t>
            </a:r>
          </a:p>
          <a:p>
            <a:pPr lvl="2"/>
            <a:r>
              <a:rPr lang="tr-TR"/>
              <a:t>private String baslik;</a:t>
            </a:r>
          </a:p>
          <a:p>
            <a:pPr lvl="2"/>
            <a:r>
              <a:rPr lang="tr-TR"/>
              <a:t>private String mesaj;</a:t>
            </a:r>
          </a:p>
          <a:p>
            <a:pPr lvl="1"/>
            <a:r>
              <a:rPr lang="tr-TR"/>
              <a:t>}</a:t>
            </a:r>
          </a:p>
          <a:p>
            <a:endParaRPr lang="tr-TR" b="1"/>
          </a:p>
          <a:p>
            <a:endParaRPr lang="tr-TR" sz="1600"/>
          </a:p>
        </p:txBody>
      </p:sp>
    </p:spTree>
    <p:extLst>
      <p:ext uri="{BB962C8B-B14F-4D97-AF65-F5344CB8AC3E}">
        <p14:creationId xmlns:p14="http://schemas.microsoft.com/office/powerpoint/2010/main" val="3124616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470D1-4BF1-EBF6-8A97-D12854C80EC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6654321-F4C2-8FC0-EADD-1EB6E48468E8}"/>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0BFC4E5A-4672-FDC3-0B0B-5538F86F55A4}"/>
              </a:ext>
            </a:extLst>
          </p:cNvPr>
          <p:cNvSpPr>
            <a:spLocks noGrp="1"/>
          </p:cNvSpPr>
          <p:nvPr>
            <p:ph idx="1"/>
          </p:nvPr>
        </p:nvSpPr>
        <p:spPr>
          <a:xfrm>
            <a:off x="2461393" y="1720645"/>
            <a:ext cx="8915400" cy="3777622"/>
          </a:xfrm>
        </p:spPr>
        <p:txBody>
          <a:bodyPr>
            <a:noAutofit/>
          </a:bodyPr>
          <a:lstStyle/>
          <a:p>
            <a:pPr lvl="1"/>
            <a:r>
              <a:rPr lang="tr-TR"/>
              <a:t>public String getEmail() { </a:t>
            </a:r>
          </a:p>
          <a:p>
            <a:pPr lvl="2"/>
            <a:r>
              <a:rPr lang="tr-TR" b="1"/>
              <a:t>return</a:t>
            </a:r>
            <a:r>
              <a:rPr lang="tr-TR"/>
              <a:t> email; </a:t>
            </a:r>
          </a:p>
          <a:p>
            <a:pPr lvl="1"/>
            <a:r>
              <a:rPr lang="tr-TR"/>
              <a:t>}</a:t>
            </a:r>
          </a:p>
          <a:p>
            <a:pPr lvl="1"/>
            <a:r>
              <a:rPr lang="tr-TR"/>
              <a:t>public </a:t>
            </a:r>
            <a:r>
              <a:rPr lang="tr-TR" b="1"/>
              <a:t>void</a:t>
            </a:r>
            <a:r>
              <a:rPr lang="tr-TR"/>
              <a:t> setEmail(String email) { </a:t>
            </a:r>
          </a:p>
          <a:p>
            <a:pPr lvl="2"/>
            <a:r>
              <a:rPr lang="tr-TR" b="1"/>
              <a:t>this</a:t>
            </a:r>
            <a:r>
              <a:rPr lang="tr-TR"/>
              <a:t>.email = email; </a:t>
            </a:r>
          </a:p>
          <a:p>
            <a:pPr lvl="1"/>
            <a:r>
              <a:rPr lang="tr-TR"/>
              <a:t>}</a:t>
            </a:r>
          </a:p>
          <a:p>
            <a:pPr lvl="1"/>
            <a:r>
              <a:rPr lang="tr-TR"/>
              <a:t>public String getBaslik() { </a:t>
            </a:r>
          </a:p>
          <a:p>
            <a:pPr lvl="2"/>
            <a:r>
              <a:rPr lang="tr-TR" b="1"/>
              <a:t>return</a:t>
            </a:r>
            <a:r>
              <a:rPr lang="tr-TR"/>
              <a:t> baslik; </a:t>
            </a:r>
          </a:p>
          <a:p>
            <a:pPr lvl="1"/>
            <a:r>
              <a:rPr lang="tr-TR"/>
              <a:t>}</a:t>
            </a:r>
          </a:p>
          <a:p>
            <a:pPr lvl="1"/>
            <a:r>
              <a:rPr lang="tr-TR"/>
              <a:t>public </a:t>
            </a:r>
            <a:r>
              <a:rPr lang="tr-TR" b="1"/>
              <a:t>void</a:t>
            </a:r>
            <a:r>
              <a:rPr lang="tr-TR"/>
              <a:t> setBaslik(String baslik) { </a:t>
            </a:r>
          </a:p>
          <a:p>
            <a:pPr lvl="2"/>
            <a:r>
              <a:rPr lang="tr-TR" b="1"/>
              <a:t>this</a:t>
            </a:r>
            <a:r>
              <a:rPr lang="tr-TR"/>
              <a:t>.baslik = baslik; </a:t>
            </a:r>
          </a:p>
          <a:p>
            <a:pPr lvl="1"/>
            <a:r>
              <a:rPr lang="tr-TR"/>
              <a:t>}</a:t>
            </a:r>
          </a:p>
          <a:p>
            <a:endParaRPr lang="tr-TR" b="1"/>
          </a:p>
          <a:p>
            <a:endParaRPr lang="tr-TR" sz="1600"/>
          </a:p>
        </p:txBody>
      </p:sp>
    </p:spTree>
    <p:extLst>
      <p:ext uri="{BB962C8B-B14F-4D97-AF65-F5344CB8AC3E}">
        <p14:creationId xmlns:p14="http://schemas.microsoft.com/office/powerpoint/2010/main" val="4253145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3BF52-3DDE-CC8E-8D8D-CA371F6DCF6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F076382-23A3-B3E1-B09E-922159A3B0B9}"/>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1213DAA8-23E3-E37D-37FC-FA9D8FA61928}"/>
              </a:ext>
            </a:extLst>
          </p:cNvPr>
          <p:cNvSpPr>
            <a:spLocks noGrp="1"/>
          </p:cNvSpPr>
          <p:nvPr>
            <p:ph idx="1"/>
          </p:nvPr>
        </p:nvSpPr>
        <p:spPr>
          <a:xfrm>
            <a:off x="2461393" y="1720645"/>
            <a:ext cx="8915400" cy="3777622"/>
          </a:xfrm>
        </p:spPr>
        <p:txBody>
          <a:bodyPr>
            <a:noAutofit/>
          </a:bodyPr>
          <a:lstStyle/>
          <a:p>
            <a:pPr lvl="1"/>
            <a:r>
              <a:rPr lang="tr-TR"/>
              <a:t>public String getMesaj() { </a:t>
            </a:r>
          </a:p>
          <a:p>
            <a:pPr lvl="2"/>
            <a:r>
              <a:rPr lang="tr-TR" b="1"/>
              <a:t>return</a:t>
            </a:r>
            <a:r>
              <a:rPr lang="tr-TR"/>
              <a:t> mesaj; </a:t>
            </a:r>
          </a:p>
          <a:p>
            <a:pPr lvl="1"/>
            <a:r>
              <a:rPr lang="tr-TR"/>
              <a:t>}</a:t>
            </a:r>
          </a:p>
          <a:p>
            <a:pPr lvl="1"/>
            <a:r>
              <a:rPr lang="tr-TR"/>
              <a:t>public </a:t>
            </a:r>
            <a:r>
              <a:rPr lang="tr-TR" b="1"/>
              <a:t>void</a:t>
            </a:r>
            <a:r>
              <a:rPr lang="tr-TR"/>
              <a:t> setMesaj(String mesaj) { </a:t>
            </a:r>
          </a:p>
          <a:p>
            <a:pPr lvl="2"/>
            <a:r>
              <a:rPr lang="tr-TR"/>
              <a:t>this.mesaj = mesaj; </a:t>
            </a:r>
          </a:p>
          <a:p>
            <a:pPr lvl="1"/>
            <a:r>
              <a:rPr lang="tr-TR"/>
              <a:t>}</a:t>
            </a:r>
          </a:p>
          <a:p>
            <a:r>
              <a:rPr lang="tr-TR"/>
              <a:t>}</a:t>
            </a:r>
          </a:p>
        </p:txBody>
      </p:sp>
    </p:spTree>
    <p:extLst>
      <p:ext uri="{BB962C8B-B14F-4D97-AF65-F5344CB8AC3E}">
        <p14:creationId xmlns:p14="http://schemas.microsoft.com/office/powerpoint/2010/main" val="1356700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E515F-F38C-7CB8-26CC-551ABE1AA83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851F031-A416-57A3-8785-285989D56757}"/>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C9FAB90E-2650-9A24-F31D-D6F830191A38}"/>
              </a:ext>
            </a:extLst>
          </p:cNvPr>
          <p:cNvSpPr>
            <a:spLocks noGrp="1"/>
          </p:cNvSpPr>
          <p:nvPr>
            <p:ph idx="1"/>
          </p:nvPr>
        </p:nvSpPr>
        <p:spPr>
          <a:xfrm>
            <a:off x="2461393" y="1720645"/>
            <a:ext cx="8915400" cy="3777622"/>
          </a:xfrm>
        </p:spPr>
        <p:txBody>
          <a:bodyPr>
            <a:noAutofit/>
          </a:bodyPr>
          <a:lstStyle/>
          <a:p>
            <a:r>
              <a:rPr lang="tr-TR" b="1"/>
              <a:t>MailServisi</a:t>
            </a:r>
            <a:r>
              <a:rPr lang="tr-TR"/>
              <a:t> sınıfında bulunan kütüphaneler</a:t>
            </a:r>
            <a:endParaRPr lang="tr-TR" sz="1000"/>
          </a:p>
          <a:p>
            <a:endParaRPr lang="tr-TR" b="1"/>
          </a:p>
          <a:p>
            <a:r>
              <a:rPr lang="tr-TR" b="1"/>
              <a:t>package</a:t>
            </a:r>
            <a:r>
              <a:rPr lang="tr-TR"/>
              <a:t> com.ornek.kitapliste.servis;</a:t>
            </a:r>
          </a:p>
          <a:p>
            <a:endParaRPr lang="tr-TR"/>
          </a:p>
          <a:p>
            <a:r>
              <a:rPr lang="tr-TR" b="1"/>
              <a:t>import</a:t>
            </a:r>
            <a:r>
              <a:rPr lang="tr-TR"/>
              <a:t> com.ornek.kitapliste.dto.MailDTO;</a:t>
            </a:r>
          </a:p>
          <a:p>
            <a:r>
              <a:rPr lang="tr-TR" b="1"/>
              <a:t>import</a:t>
            </a:r>
            <a:r>
              <a:rPr lang="tr-TR"/>
              <a:t> org.springframework.stereotype.Service;</a:t>
            </a:r>
          </a:p>
          <a:p>
            <a:r>
              <a:rPr lang="tr-TR" b="1"/>
              <a:t>import</a:t>
            </a:r>
            <a:r>
              <a:rPr lang="tr-TR"/>
              <a:t> org.springframework.web.reactive.function.client.WebClient;</a:t>
            </a:r>
          </a:p>
          <a:p>
            <a:endParaRPr lang="tr-TR" sz="1600"/>
          </a:p>
        </p:txBody>
      </p:sp>
    </p:spTree>
    <p:extLst>
      <p:ext uri="{BB962C8B-B14F-4D97-AF65-F5344CB8AC3E}">
        <p14:creationId xmlns:p14="http://schemas.microsoft.com/office/powerpoint/2010/main" val="1093789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A41AD-8F09-948E-0C54-165CDC8B11F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EA47119C-FA67-6007-873C-829FA0381DED}"/>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B375A167-62D5-C015-77BE-5388D2C2A271}"/>
              </a:ext>
            </a:extLst>
          </p:cNvPr>
          <p:cNvSpPr>
            <a:spLocks noGrp="1"/>
          </p:cNvSpPr>
          <p:nvPr>
            <p:ph idx="1"/>
          </p:nvPr>
        </p:nvSpPr>
        <p:spPr>
          <a:xfrm>
            <a:off x="2461393" y="1720645"/>
            <a:ext cx="8915400" cy="3777622"/>
          </a:xfrm>
        </p:spPr>
        <p:txBody>
          <a:bodyPr>
            <a:noAutofit/>
          </a:bodyPr>
          <a:lstStyle/>
          <a:p>
            <a:r>
              <a:rPr lang="tr-TR" b="1"/>
              <a:t>MailServisi</a:t>
            </a:r>
            <a:r>
              <a:rPr lang="tr-TR"/>
              <a:t> sınıfında bulunan constructor ve </a:t>
            </a:r>
            <a:r>
              <a:rPr lang="tr-TR" b="1"/>
              <a:t>mail gönderimi </a:t>
            </a:r>
            <a:r>
              <a:rPr lang="tr-TR"/>
              <a:t>için Spring tarafından oluşturulan </a:t>
            </a:r>
            <a:r>
              <a:rPr lang="tr-TR" b="1"/>
              <a:t>WebClient</a:t>
            </a:r>
            <a:r>
              <a:rPr lang="tr-TR"/>
              <a:t> bean’ini constructor aracılığıyla MailServisi sınıfına aktarıyoruz.</a:t>
            </a:r>
            <a:endParaRPr lang="tr-TR" sz="1000"/>
          </a:p>
          <a:p>
            <a:endParaRPr lang="tr-TR" b="1"/>
          </a:p>
          <a:p>
            <a:r>
              <a:rPr lang="tr-TR"/>
              <a:t>@Service</a:t>
            </a:r>
          </a:p>
          <a:p>
            <a:r>
              <a:rPr lang="tr-TR"/>
              <a:t>public class MailServisi {</a:t>
            </a:r>
          </a:p>
          <a:p>
            <a:endParaRPr lang="tr-TR"/>
          </a:p>
          <a:p>
            <a:pPr lvl="1"/>
            <a:r>
              <a:rPr lang="tr-TR"/>
              <a:t>private final WebClient webClient;</a:t>
            </a:r>
          </a:p>
          <a:p>
            <a:pPr lvl="1"/>
            <a:endParaRPr lang="tr-TR"/>
          </a:p>
          <a:p>
            <a:pPr lvl="1"/>
            <a:r>
              <a:rPr lang="tr-TR"/>
              <a:t>public MailServisi(WebClient webClient) {</a:t>
            </a:r>
          </a:p>
          <a:p>
            <a:pPr lvl="2"/>
            <a:r>
              <a:rPr lang="tr-TR"/>
              <a:t>this.webClient = webClient;</a:t>
            </a:r>
          </a:p>
          <a:p>
            <a:pPr lvl="1"/>
            <a:r>
              <a:rPr lang="tr-TR"/>
              <a:t>}</a:t>
            </a:r>
          </a:p>
          <a:p>
            <a:endParaRPr lang="tr-TR" sz="1600"/>
          </a:p>
        </p:txBody>
      </p:sp>
    </p:spTree>
    <p:extLst>
      <p:ext uri="{BB962C8B-B14F-4D97-AF65-F5344CB8AC3E}">
        <p14:creationId xmlns:p14="http://schemas.microsoft.com/office/powerpoint/2010/main" val="1269849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50F20-15C4-0735-9FD1-AC19F2324F8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8674B9C-CFD8-B8B7-7542-F73832C39D77}"/>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0363DCF5-BD7E-9477-C641-9C5FB4FBE580}"/>
              </a:ext>
            </a:extLst>
          </p:cNvPr>
          <p:cNvSpPr>
            <a:spLocks noGrp="1"/>
          </p:cNvSpPr>
          <p:nvPr>
            <p:ph idx="1"/>
          </p:nvPr>
        </p:nvSpPr>
        <p:spPr>
          <a:xfrm>
            <a:off x="2461393" y="1720645"/>
            <a:ext cx="8915400" cy="3777622"/>
          </a:xfrm>
        </p:spPr>
        <p:txBody>
          <a:bodyPr>
            <a:noAutofit/>
          </a:bodyPr>
          <a:lstStyle/>
          <a:p>
            <a:r>
              <a:rPr lang="tr-TR" b="1"/>
              <a:t>MailServisi</a:t>
            </a:r>
            <a:r>
              <a:rPr lang="tr-TR"/>
              <a:t> sınıfında bulunan </a:t>
            </a:r>
            <a:r>
              <a:rPr lang="tr-TR" b="1"/>
              <a:t>mailGonder</a:t>
            </a:r>
            <a:r>
              <a:rPr lang="tr-TR"/>
              <a:t> metodu</a:t>
            </a:r>
          </a:p>
          <a:p>
            <a:endParaRPr lang="tr-TR" b="1"/>
          </a:p>
          <a:p>
            <a:endParaRPr lang="tr-TR" b="1"/>
          </a:p>
          <a:p>
            <a:r>
              <a:rPr lang="tr-TR"/>
              <a:t>public void mailGonder(String email, String baslik, String mesaj) {</a:t>
            </a:r>
          </a:p>
          <a:p>
            <a:endParaRPr lang="tr-TR"/>
          </a:p>
          <a:p>
            <a:pPr lvl="1"/>
            <a:r>
              <a:rPr lang="tr-TR"/>
              <a:t>MailDTO dto = new MailDTO();</a:t>
            </a:r>
          </a:p>
          <a:p>
            <a:pPr lvl="1"/>
            <a:r>
              <a:rPr lang="tr-TR"/>
              <a:t>dto.setEmail(email);</a:t>
            </a:r>
          </a:p>
          <a:p>
            <a:pPr lvl="1"/>
            <a:r>
              <a:rPr lang="tr-TR"/>
              <a:t>dto.setBaslik(baslik);</a:t>
            </a:r>
          </a:p>
          <a:p>
            <a:pPr lvl="1"/>
            <a:r>
              <a:rPr lang="tr-TR"/>
              <a:t>dto.setMesaj(mesaj);</a:t>
            </a:r>
          </a:p>
          <a:p>
            <a:endParaRPr lang="tr-TR" sz="1600"/>
          </a:p>
        </p:txBody>
      </p:sp>
    </p:spTree>
    <p:extLst>
      <p:ext uri="{BB962C8B-B14F-4D97-AF65-F5344CB8AC3E}">
        <p14:creationId xmlns:p14="http://schemas.microsoft.com/office/powerpoint/2010/main" val="490787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78D3C-E340-2A3C-9E42-7ED89C734605}"/>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6D0AB88-D6B4-E488-74A6-3EC45785CB14}"/>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01BD2690-3647-F8A4-EAAB-3EBB5C2F1C98}"/>
              </a:ext>
            </a:extLst>
          </p:cNvPr>
          <p:cNvSpPr>
            <a:spLocks noGrp="1"/>
          </p:cNvSpPr>
          <p:nvPr>
            <p:ph idx="1"/>
          </p:nvPr>
        </p:nvSpPr>
        <p:spPr>
          <a:xfrm>
            <a:off x="2461393" y="1720645"/>
            <a:ext cx="8915400" cy="3777622"/>
          </a:xfrm>
        </p:spPr>
        <p:txBody>
          <a:bodyPr>
            <a:noAutofit/>
          </a:bodyPr>
          <a:lstStyle/>
          <a:p>
            <a:r>
              <a:rPr lang="tr-TR"/>
              <a:t>bodyValue(dto) kodu ile </a:t>
            </a:r>
            <a:r>
              <a:rPr lang="tr-TR" b="1"/>
              <a:t>JSON</a:t>
            </a:r>
            <a:r>
              <a:rPr lang="tr-TR"/>
              <a:t> formatında göndermektir. Projeler arasında </a:t>
            </a:r>
            <a:r>
              <a:rPr lang="tr-TR" b="1"/>
              <a:t>RestAPI</a:t>
            </a:r>
            <a:r>
              <a:rPr lang="tr-TR"/>
              <a:t> üzerinden veri alışverişi yapılırken sadece </a:t>
            </a:r>
            <a:r>
              <a:rPr lang="tr-TR" b="1"/>
              <a:t>JSON</a:t>
            </a:r>
            <a:r>
              <a:rPr lang="tr-TR"/>
              <a:t> formatı geçerlidir verilerinizi mutlaka </a:t>
            </a:r>
            <a:r>
              <a:rPr lang="tr-TR" b="1"/>
              <a:t>JSON</a:t>
            </a:r>
            <a:r>
              <a:rPr lang="tr-TR"/>
              <a:t> formatına çevirip göndermeniz gerekmektedir.</a:t>
            </a:r>
            <a:endParaRPr lang="tr-TR" sz="1000"/>
          </a:p>
          <a:p>
            <a:endParaRPr lang="tr-TR" b="1"/>
          </a:p>
          <a:p>
            <a:r>
              <a:rPr lang="tr-TR"/>
              <a:t>webClient.post()</a:t>
            </a:r>
          </a:p>
          <a:p>
            <a:r>
              <a:rPr lang="tr-TR"/>
              <a:t>.uri("http://127.0.0.1:8000/send-mail")</a:t>
            </a:r>
          </a:p>
          <a:p>
            <a:r>
              <a:rPr lang="tr-TR"/>
              <a:t>.bodyValue(dto)</a:t>
            </a:r>
          </a:p>
          <a:p>
            <a:r>
              <a:rPr lang="tr-TR"/>
              <a:t>.retrieve()</a:t>
            </a:r>
          </a:p>
          <a:p>
            <a:r>
              <a:rPr lang="tr-TR"/>
              <a:t>.bodyToMono(String.class)</a:t>
            </a:r>
          </a:p>
          <a:p>
            <a:r>
              <a:rPr lang="tr-TR"/>
              <a:t>.doOnSuccess(res -&gt; System.</a:t>
            </a:r>
            <a:r>
              <a:rPr lang="tr-TR" b="1" i="1"/>
              <a:t>out</a:t>
            </a:r>
            <a:r>
              <a:rPr lang="tr-TR"/>
              <a:t>.println("MAIL OK: " + res))</a:t>
            </a:r>
          </a:p>
          <a:p>
            <a:r>
              <a:rPr lang="tr-TR"/>
              <a:t>.doOnError(err -&gt; System.err.println("MAIL ERROR: " + err.getMessage()))</a:t>
            </a:r>
          </a:p>
          <a:p>
            <a:r>
              <a:rPr lang="tr-TR"/>
              <a:t>.subscribe(); </a:t>
            </a:r>
          </a:p>
          <a:p>
            <a:r>
              <a:rPr lang="tr-TR"/>
              <a:t>}</a:t>
            </a:r>
          </a:p>
          <a:p>
            <a:endParaRPr lang="tr-TR" sz="1600"/>
          </a:p>
        </p:txBody>
      </p:sp>
    </p:spTree>
    <p:extLst>
      <p:ext uri="{BB962C8B-B14F-4D97-AF65-F5344CB8AC3E}">
        <p14:creationId xmlns:p14="http://schemas.microsoft.com/office/powerpoint/2010/main" val="1275252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532C6-C17B-53B4-6123-AB517400A79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94C47ECD-75F8-BDCE-070C-74FBF33B283E}"/>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5EB85C74-BF51-AD3D-6C5E-C22F52A9F5A2}"/>
              </a:ext>
            </a:extLst>
          </p:cNvPr>
          <p:cNvSpPr>
            <a:spLocks noGrp="1"/>
          </p:cNvSpPr>
          <p:nvPr>
            <p:ph idx="1"/>
          </p:nvPr>
        </p:nvSpPr>
        <p:spPr>
          <a:xfrm>
            <a:off x="2461393" y="1720645"/>
            <a:ext cx="8915400" cy="3777622"/>
          </a:xfrm>
        </p:spPr>
        <p:txBody>
          <a:bodyPr>
            <a:noAutofit/>
          </a:bodyPr>
          <a:lstStyle/>
          <a:p>
            <a:r>
              <a:rPr lang="tr-TR"/>
              <a:t>.uri("http://127.0.0.1:8000/send-mail") satırı, </a:t>
            </a:r>
            <a:r>
              <a:rPr lang="tr-TR" b="1"/>
              <a:t>WebClient</a:t>
            </a:r>
            <a:r>
              <a:rPr lang="tr-TR"/>
              <a:t> aracılığıyla bilgisayarımızda çalışan </a:t>
            </a:r>
            <a:r>
              <a:rPr lang="tr-TR" b="1"/>
              <a:t>ekitapMailGonderim</a:t>
            </a:r>
            <a:r>
              <a:rPr lang="tr-TR"/>
              <a:t> projesinin </a:t>
            </a:r>
            <a:r>
              <a:rPr lang="tr-TR" b="1"/>
              <a:t>main</a:t>
            </a:r>
            <a:r>
              <a:rPr lang="tr-TR"/>
              <a:t>.</a:t>
            </a:r>
            <a:r>
              <a:rPr lang="tr-TR" b="1"/>
              <a:t>py</a:t>
            </a:r>
            <a:r>
              <a:rPr lang="tr-TR"/>
              <a:t> sınıfında bulunan </a:t>
            </a:r>
            <a:r>
              <a:rPr lang="tr-TR" b="1"/>
              <a:t>/send-mail </a:t>
            </a:r>
            <a:r>
              <a:rPr lang="tr-TR"/>
              <a:t>metoduna</a:t>
            </a:r>
            <a:r>
              <a:rPr lang="tr-TR" b="1"/>
              <a:t> </a:t>
            </a:r>
            <a:r>
              <a:rPr lang="tr-TR"/>
              <a:t>(REST endpoint) POST isteği gönderilmesini sağlar. Burada127.0.0.1, localhost adresini; 8000 ise </a:t>
            </a:r>
            <a:r>
              <a:rPr lang="tr-TR" b="1"/>
              <a:t>ekitapMailGonderim</a:t>
            </a:r>
            <a:r>
              <a:rPr lang="tr-TR"/>
              <a:t> projesinin çalıştığı port numarasını temsil eder.</a:t>
            </a:r>
            <a:endParaRPr lang="tr-TR" b="1"/>
          </a:p>
          <a:p>
            <a:endParaRPr lang="tr-TR" b="1"/>
          </a:p>
          <a:p>
            <a:r>
              <a:rPr lang="tr-TR"/>
              <a:t>webClient.post()</a:t>
            </a:r>
          </a:p>
          <a:p>
            <a:r>
              <a:rPr lang="tr-TR"/>
              <a:t>.uri("http://127.0.0.1:8000/send-mail")</a:t>
            </a:r>
          </a:p>
          <a:p>
            <a:r>
              <a:rPr lang="tr-TR"/>
              <a:t>.bodyValue(dto)</a:t>
            </a:r>
          </a:p>
          <a:p>
            <a:r>
              <a:rPr lang="tr-TR"/>
              <a:t>.retrieve()</a:t>
            </a:r>
          </a:p>
          <a:p>
            <a:r>
              <a:rPr lang="tr-TR"/>
              <a:t>.bodyToMono(String.class)</a:t>
            </a:r>
          </a:p>
          <a:p>
            <a:r>
              <a:rPr lang="tr-TR"/>
              <a:t>.doOnSuccess(res -&gt; System.</a:t>
            </a:r>
            <a:r>
              <a:rPr lang="tr-TR" b="1" i="1"/>
              <a:t>out</a:t>
            </a:r>
            <a:r>
              <a:rPr lang="tr-TR"/>
              <a:t>.println("MAIL OK: " + res))</a:t>
            </a:r>
          </a:p>
          <a:p>
            <a:r>
              <a:rPr lang="tr-TR"/>
              <a:t>.doOnError(err -&gt; System.err.println("MAIL ERROR: " + err.getMessage()))</a:t>
            </a:r>
          </a:p>
          <a:p>
            <a:r>
              <a:rPr lang="tr-TR"/>
              <a:t>.subscribe(); </a:t>
            </a:r>
          </a:p>
          <a:p>
            <a:r>
              <a:rPr lang="tr-TR"/>
              <a:t>}</a:t>
            </a:r>
          </a:p>
          <a:p>
            <a:endParaRPr lang="tr-TR" sz="1600"/>
          </a:p>
        </p:txBody>
      </p:sp>
    </p:spTree>
    <p:extLst>
      <p:ext uri="{BB962C8B-B14F-4D97-AF65-F5344CB8AC3E}">
        <p14:creationId xmlns:p14="http://schemas.microsoft.com/office/powerpoint/2010/main" val="367521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B30E9-067C-1342-B577-6FC6AAAD479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3D2EC8A-5821-94AE-2050-C86F3107A441}"/>
              </a:ext>
            </a:extLst>
          </p:cNvPr>
          <p:cNvSpPr>
            <a:spLocks noGrp="1"/>
          </p:cNvSpPr>
          <p:nvPr>
            <p:ph type="title"/>
          </p:nvPr>
        </p:nvSpPr>
        <p:spPr/>
        <p:txBody>
          <a:bodyPr/>
          <a:lstStyle/>
          <a:p>
            <a:r>
              <a:rPr lang="tr-TR"/>
              <a:t>Python</a:t>
            </a:r>
          </a:p>
        </p:txBody>
      </p:sp>
      <p:sp>
        <p:nvSpPr>
          <p:cNvPr id="3" name="İçerik Yer Tutucusu 2">
            <a:extLst>
              <a:ext uri="{FF2B5EF4-FFF2-40B4-BE49-F238E27FC236}">
                <a16:creationId xmlns:a16="http://schemas.microsoft.com/office/drawing/2014/main" id="{140112E2-174D-7C5E-042A-6F206B545F40}"/>
              </a:ext>
            </a:extLst>
          </p:cNvPr>
          <p:cNvSpPr>
            <a:spLocks noGrp="1"/>
          </p:cNvSpPr>
          <p:nvPr>
            <p:ph idx="1"/>
          </p:nvPr>
        </p:nvSpPr>
        <p:spPr>
          <a:xfrm>
            <a:off x="2461393" y="1720645"/>
            <a:ext cx="8915400" cy="3777622"/>
          </a:xfrm>
        </p:spPr>
        <p:txBody>
          <a:bodyPr>
            <a:noAutofit/>
          </a:bodyPr>
          <a:lstStyle/>
          <a:p>
            <a:r>
              <a:rPr lang="tr-TR" sz="1600"/>
              <a:t>Python projemizde bulunan test_main.http dosyasında bu tanımlanmıştır.</a:t>
            </a:r>
          </a:p>
          <a:p>
            <a:endParaRPr lang="tr-TR" sz="1600"/>
          </a:p>
          <a:p>
            <a:endParaRPr lang="tr-TR" sz="1600"/>
          </a:p>
        </p:txBody>
      </p:sp>
      <p:pic>
        <p:nvPicPr>
          <p:cNvPr id="5" name="Resim 4">
            <a:extLst>
              <a:ext uri="{FF2B5EF4-FFF2-40B4-BE49-F238E27FC236}">
                <a16:creationId xmlns:a16="http://schemas.microsoft.com/office/drawing/2014/main" id="{107BDCE4-5BE8-9A4B-09FD-DC29EAA351E3}"/>
              </a:ext>
            </a:extLst>
          </p:cNvPr>
          <p:cNvPicPr>
            <a:picLocks noChangeAspect="1"/>
          </p:cNvPicPr>
          <p:nvPr/>
        </p:nvPicPr>
        <p:blipFill>
          <a:blip r:embed="rId2"/>
          <a:stretch>
            <a:fillRect/>
          </a:stretch>
        </p:blipFill>
        <p:spPr>
          <a:xfrm>
            <a:off x="255638" y="2061295"/>
            <a:ext cx="12192000" cy="5409784"/>
          </a:xfrm>
          <a:prstGeom prst="rect">
            <a:avLst/>
          </a:prstGeom>
        </p:spPr>
      </p:pic>
    </p:spTree>
    <p:extLst>
      <p:ext uri="{BB962C8B-B14F-4D97-AF65-F5344CB8AC3E}">
        <p14:creationId xmlns:p14="http://schemas.microsoft.com/office/powerpoint/2010/main" val="38014978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C5AE502-D1BA-2AFB-508C-A156425A7BEB}"/>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56470985-377F-7B64-356A-10936540A423}"/>
              </a:ext>
            </a:extLst>
          </p:cNvPr>
          <p:cNvSpPr>
            <a:spLocks noGrp="1"/>
          </p:cNvSpPr>
          <p:nvPr>
            <p:ph idx="1"/>
          </p:nvPr>
        </p:nvSpPr>
        <p:spPr/>
        <p:txBody>
          <a:bodyPr/>
          <a:lstStyle/>
          <a:p>
            <a:r>
              <a:rPr lang="tr-TR"/>
              <a:t>post() → Belirlenen adrese HTTP POST isteği oluşturur</a:t>
            </a:r>
          </a:p>
          <a:p>
            <a:r>
              <a:rPr lang="tr-TR"/>
              <a:t>uri(...) → İstek gönderilecek REST endpoint adresini belirtir</a:t>
            </a:r>
          </a:p>
          <a:p>
            <a:r>
              <a:rPr lang="tr-TR"/>
              <a:t>bodyValue(dto) → Verilerimizi JSON’a çevirip isteğin gövdesine ekler</a:t>
            </a:r>
          </a:p>
          <a:p>
            <a:r>
              <a:rPr lang="tr-TR"/>
              <a:t>retrieve() → HTTP cevabını alır</a:t>
            </a:r>
          </a:p>
          <a:p>
            <a:r>
              <a:rPr lang="tr-TR"/>
              <a:t>bodyToMono(String.class) → Gelen cevabı Mono nesnesine dönüştürüp String olarak yazdırır</a:t>
            </a:r>
          </a:p>
          <a:p>
            <a:r>
              <a:rPr lang="tr-TR"/>
              <a:t>doOnSuccess → Başarılı sonuçta log yazdırır</a:t>
            </a:r>
          </a:p>
          <a:p>
            <a:r>
              <a:rPr lang="tr-TR"/>
              <a:t>doOnError → Hata durumunda log yazdırır</a:t>
            </a:r>
          </a:p>
          <a:p>
            <a:r>
              <a:rPr lang="tr-TR"/>
              <a:t>subscribe() →  Projeler arası akışı başlatır ve veriler gönderilmeye başlar</a:t>
            </a:r>
          </a:p>
        </p:txBody>
      </p:sp>
    </p:spTree>
    <p:extLst>
      <p:ext uri="{BB962C8B-B14F-4D97-AF65-F5344CB8AC3E}">
        <p14:creationId xmlns:p14="http://schemas.microsoft.com/office/powerpoint/2010/main" val="2824452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F9CE4-8401-09DE-3E03-7FA1F399546A}"/>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9F07364-246E-3A7E-2046-4CC2834EEF21}"/>
              </a:ext>
            </a:extLst>
          </p:cNvPr>
          <p:cNvSpPr>
            <a:spLocks noGrp="1"/>
          </p:cNvSpPr>
          <p:nvPr>
            <p:ph type="title"/>
          </p:nvPr>
        </p:nvSpPr>
        <p:spPr/>
        <p:txBody>
          <a:bodyPr/>
          <a:lstStyle/>
          <a:p>
            <a:r>
              <a:rPr lang="tr-TR"/>
              <a:t>Spring Boot</a:t>
            </a:r>
          </a:p>
        </p:txBody>
      </p:sp>
      <p:sp>
        <p:nvSpPr>
          <p:cNvPr id="3" name="İçerik Yer Tutucusu 2">
            <a:extLst>
              <a:ext uri="{FF2B5EF4-FFF2-40B4-BE49-F238E27FC236}">
                <a16:creationId xmlns:a16="http://schemas.microsoft.com/office/drawing/2014/main" id="{3BAE58D4-B59D-F82F-15C4-D1F680C914FD}"/>
              </a:ext>
            </a:extLst>
          </p:cNvPr>
          <p:cNvSpPr>
            <a:spLocks noGrp="1"/>
          </p:cNvSpPr>
          <p:nvPr>
            <p:ph idx="1"/>
          </p:nvPr>
        </p:nvSpPr>
        <p:spPr>
          <a:xfrm>
            <a:off x="2461393" y="1720645"/>
            <a:ext cx="8915400" cy="3777622"/>
          </a:xfrm>
        </p:spPr>
        <p:txBody>
          <a:bodyPr>
            <a:noAutofit/>
          </a:bodyPr>
          <a:lstStyle/>
          <a:p>
            <a:r>
              <a:rPr lang="tr-TR" b="1"/>
              <a:t>ekitapMailGonderim</a:t>
            </a:r>
            <a:r>
              <a:rPr lang="tr-TR"/>
              <a:t> projesinin </a:t>
            </a:r>
            <a:r>
              <a:rPr lang="tr-TR" b="1"/>
              <a:t>main</a:t>
            </a:r>
            <a:r>
              <a:rPr lang="tr-TR"/>
              <a:t>.</a:t>
            </a:r>
            <a:r>
              <a:rPr lang="tr-TR" b="1"/>
              <a:t>py</a:t>
            </a:r>
            <a:r>
              <a:rPr lang="tr-TR"/>
              <a:t> sınıfının </a:t>
            </a:r>
            <a:r>
              <a:rPr lang="tr-TR" b="1"/>
              <a:t>/send-mail </a:t>
            </a:r>
            <a:r>
              <a:rPr lang="tr-TR"/>
              <a:t>metoduna</a:t>
            </a:r>
            <a:r>
              <a:rPr lang="tr-TR" b="1"/>
              <a:t> RestAPI endpoint </a:t>
            </a:r>
            <a:r>
              <a:rPr lang="tr-TR"/>
              <a:t>dememizin sebebi metodun aşağıdaki şekilde tanımlanmış olmasıdır.</a:t>
            </a:r>
          </a:p>
          <a:p>
            <a:endParaRPr lang="tr-TR" b="1"/>
          </a:p>
          <a:p>
            <a:r>
              <a:rPr lang="tr-TR"/>
              <a:t>@app.post("/send-mail")</a:t>
            </a:r>
          </a:p>
          <a:p>
            <a:endParaRPr lang="tr-TR" b="1"/>
          </a:p>
          <a:p>
            <a:r>
              <a:rPr lang="tr-TR"/>
              <a:t>Bir metodun </a:t>
            </a:r>
            <a:r>
              <a:rPr lang="tr-TR" b="1"/>
              <a:t>RestAPI Endpoint</a:t>
            </a:r>
            <a:r>
              <a:rPr lang="tr-TR"/>
              <a:t>'i (Uç Noktası) olması, onun artık sadece kendi projenizden değil başka projelerden de çağrılabileceği anlamına gelmektedir. </a:t>
            </a:r>
          </a:p>
          <a:p>
            <a:r>
              <a:rPr lang="tr-TR"/>
              <a:t>Metod artık sadece proje içinden değil </a:t>
            </a:r>
            <a:r>
              <a:rPr lang="tr-TR">
                <a:hlinkClick r:id="rId2"/>
              </a:rPr>
              <a:t>http://ip-adresi/send-mail</a:t>
            </a:r>
            <a:r>
              <a:rPr lang="tr-TR"/>
              <a:t> ile dışarıdan da çağrılabilmektedir.</a:t>
            </a:r>
            <a:endParaRPr lang="tr-TR" b="1"/>
          </a:p>
          <a:p>
            <a:endParaRPr lang="tr-TR" b="1"/>
          </a:p>
          <a:p>
            <a:r>
              <a:rPr lang="tr-TR"/>
              <a:t>Bu sayede farklı projeler arası veri transferi </a:t>
            </a:r>
            <a:r>
              <a:rPr lang="tr-TR" b="1"/>
              <a:t>RestAPI</a:t>
            </a:r>
            <a:r>
              <a:rPr lang="tr-TR"/>
              <a:t> sayesinde sağlanmaktadır.</a:t>
            </a:r>
          </a:p>
          <a:p>
            <a:endParaRPr lang="tr-TR" b="1"/>
          </a:p>
          <a:p>
            <a:endParaRPr lang="tr-TR" sz="1600"/>
          </a:p>
        </p:txBody>
      </p:sp>
    </p:spTree>
    <p:extLst>
      <p:ext uri="{BB962C8B-B14F-4D97-AF65-F5344CB8AC3E}">
        <p14:creationId xmlns:p14="http://schemas.microsoft.com/office/powerpoint/2010/main" val="12988148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E5B1A-8C23-6316-9B5F-7BE45E8BCD1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BF36CFEB-3618-BC71-D0FE-66024E5C999A}"/>
              </a:ext>
            </a:extLst>
          </p:cNvPr>
          <p:cNvSpPr>
            <a:spLocks noGrp="1"/>
          </p:cNvSpPr>
          <p:nvPr>
            <p:ph type="title"/>
          </p:nvPr>
        </p:nvSpPr>
        <p:spPr/>
        <p:txBody>
          <a:bodyPr/>
          <a:lstStyle/>
          <a:p>
            <a:r>
              <a:rPr lang="tr-TR"/>
              <a:t>React Native</a:t>
            </a:r>
          </a:p>
        </p:txBody>
      </p:sp>
      <p:sp>
        <p:nvSpPr>
          <p:cNvPr id="3" name="İçerik Yer Tutucusu 2">
            <a:extLst>
              <a:ext uri="{FF2B5EF4-FFF2-40B4-BE49-F238E27FC236}">
                <a16:creationId xmlns:a16="http://schemas.microsoft.com/office/drawing/2014/main" id="{9D64C942-7CF4-95AD-35F1-183597106B29}"/>
              </a:ext>
            </a:extLst>
          </p:cNvPr>
          <p:cNvSpPr>
            <a:spLocks noGrp="1"/>
          </p:cNvSpPr>
          <p:nvPr>
            <p:ph idx="1"/>
          </p:nvPr>
        </p:nvSpPr>
        <p:spPr>
          <a:xfrm>
            <a:off x="2461393" y="1720645"/>
            <a:ext cx="8915400" cy="3777622"/>
          </a:xfrm>
        </p:spPr>
        <p:txBody>
          <a:bodyPr>
            <a:noAutofit/>
          </a:bodyPr>
          <a:lstStyle/>
          <a:p>
            <a:r>
              <a:rPr lang="tr-TR"/>
              <a:t>React Native projesinde </a:t>
            </a:r>
            <a:r>
              <a:rPr lang="tr-TR" b="1"/>
              <a:t>api</a:t>
            </a:r>
            <a:r>
              <a:rPr lang="tr-TR"/>
              <a:t> dosyasında bulunan </a:t>
            </a:r>
            <a:r>
              <a:rPr lang="tr-TR" b="1"/>
              <a:t>authFetch</a:t>
            </a:r>
            <a:r>
              <a:rPr lang="tr-TR"/>
              <a:t>.</a:t>
            </a:r>
            <a:r>
              <a:rPr lang="tr-TR" b="1"/>
              <a:t>ts</a:t>
            </a:r>
            <a:r>
              <a:rPr lang="tr-TR"/>
              <a:t> sınıfındaki aşağıdaki kod satırı ile React Native uygulaması ve Spring boot projemiz </a:t>
            </a:r>
            <a:r>
              <a:rPr lang="tr-TR" b="1"/>
              <a:t>ngrok</a:t>
            </a:r>
            <a:r>
              <a:rPr lang="tr-TR"/>
              <a:t> aracılığıyla iletişim(veri transferleri) sağlamaktadırlar dolayısıyla </a:t>
            </a:r>
            <a:r>
              <a:rPr lang="tr-TR" b="1"/>
              <a:t>RestAPI</a:t>
            </a:r>
            <a:r>
              <a:rPr lang="tr-TR"/>
              <a:t> bu adres üzerinden gerçekleştirilmektedir. </a:t>
            </a:r>
          </a:p>
          <a:p>
            <a:endParaRPr lang="tr-TR"/>
          </a:p>
          <a:p>
            <a:r>
              <a:rPr lang="tr-TR"/>
              <a:t>Burada ngrok yerine localhost adreside kullanabilirdik ancak bağlantı hataları nedeniyle ngrok tercih ettik.</a:t>
            </a:r>
          </a:p>
          <a:p>
            <a:endParaRPr lang="tr-TR" sz="1600"/>
          </a:p>
          <a:p>
            <a:r>
              <a:rPr lang="tr-TR"/>
              <a:t>export const API_URL = "https://tasha-coolish-daisy.ngrok-free.dev";</a:t>
            </a:r>
          </a:p>
          <a:p>
            <a:endParaRPr lang="tr-TR" sz="1600"/>
          </a:p>
        </p:txBody>
      </p:sp>
    </p:spTree>
    <p:extLst>
      <p:ext uri="{BB962C8B-B14F-4D97-AF65-F5344CB8AC3E}">
        <p14:creationId xmlns:p14="http://schemas.microsoft.com/office/powerpoint/2010/main" val="3865060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97FA1-4C3E-3AC6-B4A1-62D074BA30F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451857F8-DB36-1FCA-C928-A6A46E75CE48}"/>
              </a:ext>
            </a:extLst>
          </p:cNvPr>
          <p:cNvSpPr>
            <a:spLocks noGrp="1"/>
          </p:cNvSpPr>
          <p:nvPr>
            <p:ph type="title"/>
          </p:nvPr>
        </p:nvSpPr>
        <p:spPr/>
        <p:txBody>
          <a:bodyPr/>
          <a:lstStyle/>
          <a:p>
            <a:r>
              <a:rPr lang="tr-TR"/>
              <a:t>React Native-Python-Spring Boot</a:t>
            </a:r>
          </a:p>
        </p:txBody>
      </p:sp>
      <p:sp>
        <p:nvSpPr>
          <p:cNvPr id="3" name="İçerik Yer Tutucusu 2">
            <a:extLst>
              <a:ext uri="{FF2B5EF4-FFF2-40B4-BE49-F238E27FC236}">
                <a16:creationId xmlns:a16="http://schemas.microsoft.com/office/drawing/2014/main" id="{AA5C1095-ABF9-CBC3-3AAD-39B65C4422C5}"/>
              </a:ext>
            </a:extLst>
          </p:cNvPr>
          <p:cNvSpPr>
            <a:spLocks noGrp="1"/>
          </p:cNvSpPr>
          <p:nvPr>
            <p:ph idx="1"/>
          </p:nvPr>
        </p:nvSpPr>
        <p:spPr>
          <a:xfrm>
            <a:off x="2360910" y="1310113"/>
            <a:ext cx="8915400" cy="3777622"/>
          </a:xfrm>
        </p:spPr>
        <p:txBody>
          <a:bodyPr>
            <a:noAutofit/>
          </a:bodyPr>
          <a:lstStyle/>
          <a:p>
            <a:r>
              <a:rPr lang="tr-TR" b="1"/>
              <a:t>authFetch</a:t>
            </a:r>
            <a:r>
              <a:rPr lang="tr-TR"/>
              <a:t>.</a:t>
            </a:r>
            <a:r>
              <a:rPr lang="tr-TR" b="1"/>
              <a:t>ts</a:t>
            </a:r>
            <a:r>
              <a:rPr lang="tr-TR"/>
              <a:t> sınıfındaki </a:t>
            </a:r>
            <a:r>
              <a:rPr lang="tr-TR" b="1"/>
              <a:t>JSON</a:t>
            </a:r>
            <a:r>
              <a:rPr lang="tr-TR"/>
              <a:t> ile ilgili kod satırı ve </a:t>
            </a:r>
            <a:r>
              <a:rPr lang="tr-TR" b="1"/>
              <a:t>main.py </a:t>
            </a:r>
            <a:r>
              <a:rPr lang="tr-TR"/>
              <a:t>sınıfında bulunan </a:t>
            </a:r>
            <a:r>
              <a:rPr lang="tr-TR" b="1"/>
              <a:t>JSON</a:t>
            </a:r>
            <a:r>
              <a:rPr lang="tr-TR"/>
              <a:t> ile ilgili kod satırı projeler arası veri transferinin </a:t>
            </a:r>
            <a:r>
              <a:rPr lang="tr-TR" b="1"/>
              <a:t>JSON</a:t>
            </a:r>
            <a:r>
              <a:rPr lang="tr-TR"/>
              <a:t> formatı üzerinden olacağını belirtmektedir. </a:t>
            </a:r>
          </a:p>
          <a:p>
            <a:endParaRPr lang="tr-TR"/>
          </a:p>
        </p:txBody>
      </p:sp>
      <p:pic>
        <p:nvPicPr>
          <p:cNvPr id="4" name="Resim 3">
            <a:extLst>
              <a:ext uri="{FF2B5EF4-FFF2-40B4-BE49-F238E27FC236}">
                <a16:creationId xmlns:a16="http://schemas.microsoft.com/office/drawing/2014/main" id="{DCC7396B-1FC6-6F68-6142-2192DDF954C5}"/>
              </a:ext>
            </a:extLst>
          </p:cNvPr>
          <p:cNvPicPr>
            <a:picLocks noChangeAspect="1"/>
          </p:cNvPicPr>
          <p:nvPr/>
        </p:nvPicPr>
        <p:blipFill>
          <a:blip r:embed="rId2"/>
          <a:srcRect r="42344"/>
          <a:stretch>
            <a:fillRect/>
          </a:stretch>
        </p:blipFill>
        <p:spPr>
          <a:xfrm>
            <a:off x="5496448" y="3121384"/>
            <a:ext cx="6500532" cy="4266997"/>
          </a:xfrm>
          <a:prstGeom prst="rect">
            <a:avLst/>
          </a:prstGeom>
        </p:spPr>
      </p:pic>
      <p:pic>
        <p:nvPicPr>
          <p:cNvPr id="6" name="Resim 5">
            <a:extLst>
              <a:ext uri="{FF2B5EF4-FFF2-40B4-BE49-F238E27FC236}">
                <a16:creationId xmlns:a16="http://schemas.microsoft.com/office/drawing/2014/main" id="{68E410C6-B69E-D199-B6D3-DA1F8051A494}"/>
              </a:ext>
            </a:extLst>
          </p:cNvPr>
          <p:cNvPicPr>
            <a:picLocks noChangeAspect="1"/>
          </p:cNvPicPr>
          <p:nvPr/>
        </p:nvPicPr>
        <p:blipFill>
          <a:blip r:embed="rId3"/>
          <a:stretch>
            <a:fillRect/>
          </a:stretch>
        </p:blipFill>
        <p:spPr>
          <a:xfrm>
            <a:off x="195020" y="2591003"/>
            <a:ext cx="4955542" cy="4266997"/>
          </a:xfrm>
          <a:prstGeom prst="rect">
            <a:avLst/>
          </a:prstGeom>
        </p:spPr>
      </p:pic>
      <p:sp>
        <p:nvSpPr>
          <p:cNvPr id="8" name="Ok: Sol Sağ 7">
            <a:extLst>
              <a:ext uri="{FF2B5EF4-FFF2-40B4-BE49-F238E27FC236}">
                <a16:creationId xmlns:a16="http://schemas.microsoft.com/office/drawing/2014/main" id="{27B51E32-87F0-AF52-299A-0EC8B6134134}"/>
              </a:ext>
            </a:extLst>
          </p:cNvPr>
          <p:cNvSpPr/>
          <p:nvPr/>
        </p:nvSpPr>
        <p:spPr>
          <a:xfrm>
            <a:off x="3018503" y="3746091"/>
            <a:ext cx="6812587" cy="226142"/>
          </a:xfrm>
          <a:prstGeom prst="leftRightArrow">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6541335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EE85B15-D92F-6C94-A31A-65FC48FD53AB}"/>
              </a:ext>
            </a:extLst>
          </p:cNvPr>
          <p:cNvSpPr>
            <a:spLocks noGrp="1"/>
          </p:cNvSpPr>
          <p:nvPr>
            <p:ph idx="1"/>
          </p:nvPr>
        </p:nvSpPr>
        <p:spPr>
          <a:xfrm>
            <a:off x="2107432" y="491613"/>
            <a:ext cx="8915400" cy="3777622"/>
          </a:xfrm>
        </p:spPr>
        <p:txBody>
          <a:bodyPr/>
          <a:lstStyle/>
          <a:p>
            <a:r>
              <a:rPr lang="tr-TR"/>
              <a:t>React Native’de bulunan </a:t>
            </a:r>
            <a:r>
              <a:rPr lang="tr-TR" b="1"/>
              <a:t>index</a:t>
            </a:r>
            <a:r>
              <a:rPr lang="tr-TR"/>
              <a:t>.</a:t>
            </a:r>
            <a:r>
              <a:rPr lang="tr-TR" b="1"/>
              <a:t>tsx</a:t>
            </a:r>
            <a:r>
              <a:rPr lang="tr-TR"/>
              <a:t> sınıfındaki </a:t>
            </a:r>
          </a:p>
          <a:p>
            <a:pPr lvl="1"/>
            <a:r>
              <a:rPr lang="en-US"/>
              <a:t>const res = await fetch(API_URL + "/</a:t>
            </a:r>
            <a:r>
              <a:rPr lang="en-US" b="1"/>
              <a:t>api/auth/login</a:t>
            </a:r>
            <a:r>
              <a:rPr lang="en-US"/>
              <a:t>", {</a:t>
            </a:r>
            <a:r>
              <a:rPr lang="tr-TR"/>
              <a:t>  </a:t>
            </a:r>
          </a:p>
          <a:p>
            <a:r>
              <a:rPr lang="tr-TR"/>
              <a:t>kod satırı ile React Native ve Spring Boot arasındaki veri transferi </a:t>
            </a:r>
            <a:r>
              <a:rPr lang="tr-TR" b="1"/>
              <a:t>JSON</a:t>
            </a:r>
            <a:r>
              <a:rPr lang="tr-TR"/>
              <a:t> formatında sağlanmakta</a:t>
            </a:r>
          </a:p>
          <a:p>
            <a:pPr lvl="1"/>
            <a:r>
              <a:rPr lang="tr-TR"/>
              <a:t>body: JSON.stringify({ username, password }) </a:t>
            </a:r>
          </a:p>
        </p:txBody>
      </p:sp>
      <p:pic>
        <p:nvPicPr>
          <p:cNvPr id="7" name="Resim 6">
            <a:extLst>
              <a:ext uri="{FF2B5EF4-FFF2-40B4-BE49-F238E27FC236}">
                <a16:creationId xmlns:a16="http://schemas.microsoft.com/office/drawing/2014/main" id="{B3DD3F91-DF13-C782-5F62-40D6913D8421}"/>
              </a:ext>
            </a:extLst>
          </p:cNvPr>
          <p:cNvPicPr>
            <a:picLocks noChangeAspect="1"/>
          </p:cNvPicPr>
          <p:nvPr/>
        </p:nvPicPr>
        <p:blipFill>
          <a:blip r:embed="rId2"/>
          <a:stretch>
            <a:fillRect/>
          </a:stretch>
        </p:blipFill>
        <p:spPr>
          <a:xfrm>
            <a:off x="628395" y="2467897"/>
            <a:ext cx="12192000" cy="5494364"/>
          </a:xfrm>
          <a:prstGeom prst="rect">
            <a:avLst/>
          </a:prstGeom>
        </p:spPr>
      </p:pic>
    </p:spTree>
    <p:extLst>
      <p:ext uri="{BB962C8B-B14F-4D97-AF65-F5344CB8AC3E}">
        <p14:creationId xmlns:p14="http://schemas.microsoft.com/office/powerpoint/2010/main" val="737803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90E71-19D6-B00A-EF30-170ED77BDEE9}"/>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004B4E2-F74D-10E8-8C04-9815E492C030}"/>
              </a:ext>
            </a:extLst>
          </p:cNvPr>
          <p:cNvSpPr>
            <a:spLocks noGrp="1"/>
          </p:cNvSpPr>
          <p:nvPr>
            <p:ph idx="1"/>
          </p:nvPr>
        </p:nvSpPr>
        <p:spPr>
          <a:xfrm>
            <a:off x="2107432" y="491613"/>
            <a:ext cx="8915400" cy="3777622"/>
          </a:xfrm>
        </p:spPr>
        <p:txBody>
          <a:bodyPr/>
          <a:lstStyle/>
          <a:p>
            <a:r>
              <a:rPr lang="tr-TR"/>
              <a:t>ve Spring boot tarafında bu isteği yakalayan </a:t>
            </a:r>
            <a:r>
              <a:rPr lang="tr-TR" b="1"/>
              <a:t>AuthApiKontrol</a:t>
            </a:r>
            <a:r>
              <a:rPr lang="tr-TR"/>
              <a:t> sınıfı ve sonrasında bu sınıfın </a:t>
            </a:r>
          </a:p>
        </p:txBody>
      </p:sp>
      <p:pic>
        <p:nvPicPr>
          <p:cNvPr id="4" name="Resim 3">
            <a:extLst>
              <a:ext uri="{FF2B5EF4-FFF2-40B4-BE49-F238E27FC236}">
                <a16:creationId xmlns:a16="http://schemas.microsoft.com/office/drawing/2014/main" id="{D99DAB15-CB78-84AE-FDB9-3ED030EB970C}"/>
              </a:ext>
            </a:extLst>
          </p:cNvPr>
          <p:cNvPicPr>
            <a:picLocks noChangeAspect="1"/>
          </p:cNvPicPr>
          <p:nvPr/>
        </p:nvPicPr>
        <p:blipFill>
          <a:blip r:embed="rId2"/>
          <a:stretch>
            <a:fillRect/>
          </a:stretch>
        </p:blipFill>
        <p:spPr>
          <a:xfrm>
            <a:off x="167149" y="1618347"/>
            <a:ext cx="12192000" cy="4969266"/>
          </a:xfrm>
          <a:prstGeom prst="rect">
            <a:avLst/>
          </a:prstGeom>
        </p:spPr>
      </p:pic>
    </p:spTree>
    <p:extLst>
      <p:ext uri="{BB962C8B-B14F-4D97-AF65-F5344CB8AC3E}">
        <p14:creationId xmlns:p14="http://schemas.microsoft.com/office/powerpoint/2010/main" val="1310175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20DB3-640B-612D-F663-F3C0DD86C53F}"/>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53113DD-2255-A2C5-4D03-114D560763D2}"/>
              </a:ext>
            </a:extLst>
          </p:cNvPr>
          <p:cNvSpPr>
            <a:spLocks noGrp="1"/>
          </p:cNvSpPr>
          <p:nvPr>
            <p:ph idx="1"/>
          </p:nvPr>
        </p:nvSpPr>
        <p:spPr>
          <a:xfrm>
            <a:off x="2107432" y="491613"/>
            <a:ext cx="8915400" cy="3777622"/>
          </a:xfrm>
        </p:spPr>
        <p:txBody>
          <a:bodyPr/>
          <a:lstStyle/>
          <a:p>
            <a:r>
              <a:rPr lang="tr-TR" b="1"/>
              <a:t>@PostMapping("/login") </a:t>
            </a:r>
            <a:r>
              <a:rPr lang="tr-TR"/>
              <a:t>anotasyonunu bulunduran </a:t>
            </a:r>
            <a:r>
              <a:rPr lang="tr-TR" b="1"/>
              <a:t>login</a:t>
            </a:r>
            <a:r>
              <a:rPr lang="tr-TR"/>
              <a:t> metodudur. React native’den </a:t>
            </a:r>
            <a:r>
              <a:rPr lang="tr-TR" b="1"/>
              <a:t>JSON</a:t>
            </a:r>
            <a:r>
              <a:rPr lang="tr-TR"/>
              <a:t> formatında gelen username ve password değerleri bu metoddaki </a:t>
            </a:r>
            <a:r>
              <a:rPr lang="tr-TR" b="1"/>
              <a:t>LoginRequest</a:t>
            </a:r>
            <a:r>
              <a:rPr lang="tr-TR"/>
              <a:t> parametresine verilmektedir. Daha sonra bu değerler ile Müşteri sınıfında bulunan username ve password bilgileri karşılaştırılır. Buradaki kritik nokta </a:t>
            </a:r>
            <a:r>
              <a:rPr lang="tr-TR" b="1"/>
              <a:t>login</a:t>
            </a:r>
            <a:r>
              <a:rPr lang="tr-TR"/>
              <a:t> metodu üzerinden </a:t>
            </a:r>
            <a:r>
              <a:rPr lang="tr-TR" b="1"/>
              <a:t>RestAPI’nin </a:t>
            </a:r>
            <a:r>
              <a:rPr lang="tr-TR"/>
              <a:t>gerçekleşmiş olmasıdır.</a:t>
            </a:r>
          </a:p>
        </p:txBody>
      </p:sp>
      <p:pic>
        <p:nvPicPr>
          <p:cNvPr id="5" name="Resim 4">
            <a:extLst>
              <a:ext uri="{FF2B5EF4-FFF2-40B4-BE49-F238E27FC236}">
                <a16:creationId xmlns:a16="http://schemas.microsoft.com/office/drawing/2014/main" id="{7141EF3D-2EF3-637E-871F-2098C5ADE354}"/>
              </a:ext>
            </a:extLst>
          </p:cNvPr>
          <p:cNvPicPr>
            <a:picLocks noChangeAspect="1"/>
          </p:cNvPicPr>
          <p:nvPr/>
        </p:nvPicPr>
        <p:blipFill>
          <a:blip r:embed="rId2"/>
          <a:stretch>
            <a:fillRect/>
          </a:stretch>
        </p:blipFill>
        <p:spPr>
          <a:xfrm>
            <a:off x="285135" y="2380424"/>
            <a:ext cx="12192000" cy="4159471"/>
          </a:xfrm>
          <a:prstGeom prst="rect">
            <a:avLst/>
          </a:prstGeom>
        </p:spPr>
      </p:pic>
    </p:spTree>
    <p:extLst>
      <p:ext uri="{BB962C8B-B14F-4D97-AF65-F5344CB8AC3E}">
        <p14:creationId xmlns:p14="http://schemas.microsoft.com/office/powerpoint/2010/main" val="12696815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84FF9-D2C1-3595-8A91-123000CAF9E5}"/>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CFEBA68-9BEA-D7D9-5E82-B5B2CBDD6272}"/>
              </a:ext>
            </a:extLst>
          </p:cNvPr>
          <p:cNvSpPr>
            <a:spLocks noGrp="1"/>
          </p:cNvSpPr>
          <p:nvPr>
            <p:ph idx="1"/>
          </p:nvPr>
        </p:nvSpPr>
        <p:spPr>
          <a:xfrm>
            <a:off x="2107432" y="491613"/>
            <a:ext cx="8915400" cy="3777622"/>
          </a:xfrm>
        </p:spPr>
        <p:txBody>
          <a:bodyPr/>
          <a:lstStyle/>
          <a:p>
            <a:r>
              <a:rPr lang="tr-TR" b="1"/>
              <a:t>login</a:t>
            </a:r>
            <a:r>
              <a:rPr lang="tr-TR"/>
              <a:t> metodu ile React Native ve Spring Boot arasında </a:t>
            </a:r>
            <a:r>
              <a:rPr lang="tr-TR" b="1"/>
              <a:t>RestAPI</a:t>
            </a:r>
            <a:r>
              <a:rPr lang="tr-TR"/>
              <a:t> üzerinden entegrasyon (veri transferi) sağlanmaktadır.</a:t>
            </a:r>
          </a:p>
        </p:txBody>
      </p:sp>
      <p:pic>
        <p:nvPicPr>
          <p:cNvPr id="7" name="Resim 6">
            <a:extLst>
              <a:ext uri="{FF2B5EF4-FFF2-40B4-BE49-F238E27FC236}">
                <a16:creationId xmlns:a16="http://schemas.microsoft.com/office/drawing/2014/main" id="{CD87C668-2502-478B-FA8C-8D088C3EDDAA}"/>
              </a:ext>
            </a:extLst>
          </p:cNvPr>
          <p:cNvPicPr>
            <a:picLocks noChangeAspect="1"/>
          </p:cNvPicPr>
          <p:nvPr/>
        </p:nvPicPr>
        <p:blipFill>
          <a:blip r:embed="rId2"/>
          <a:stretch>
            <a:fillRect/>
          </a:stretch>
        </p:blipFill>
        <p:spPr>
          <a:xfrm>
            <a:off x="-1435510" y="2035278"/>
            <a:ext cx="7098892" cy="5051788"/>
          </a:xfrm>
          <a:prstGeom prst="rect">
            <a:avLst/>
          </a:prstGeom>
        </p:spPr>
      </p:pic>
      <p:pic>
        <p:nvPicPr>
          <p:cNvPr id="9" name="Resim 8">
            <a:extLst>
              <a:ext uri="{FF2B5EF4-FFF2-40B4-BE49-F238E27FC236}">
                <a16:creationId xmlns:a16="http://schemas.microsoft.com/office/drawing/2014/main" id="{8E0B73FF-6CCF-8458-13E8-DA6590B3368F}"/>
              </a:ext>
            </a:extLst>
          </p:cNvPr>
          <p:cNvPicPr>
            <a:picLocks noChangeAspect="1"/>
          </p:cNvPicPr>
          <p:nvPr/>
        </p:nvPicPr>
        <p:blipFill>
          <a:blip r:embed="rId3"/>
          <a:stretch>
            <a:fillRect/>
          </a:stretch>
        </p:blipFill>
        <p:spPr>
          <a:xfrm>
            <a:off x="5860025" y="2119779"/>
            <a:ext cx="7669161" cy="5174827"/>
          </a:xfrm>
          <a:prstGeom prst="rect">
            <a:avLst/>
          </a:prstGeom>
        </p:spPr>
      </p:pic>
      <p:cxnSp>
        <p:nvCxnSpPr>
          <p:cNvPr id="11" name="Düz Ok Bağlayıcısı 10">
            <a:extLst>
              <a:ext uri="{FF2B5EF4-FFF2-40B4-BE49-F238E27FC236}">
                <a16:creationId xmlns:a16="http://schemas.microsoft.com/office/drawing/2014/main" id="{C599530D-76FA-B6B5-2260-D331C59A5965}"/>
              </a:ext>
            </a:extLst>
          </p:cNvPr>
          <p:cNvCxnSpPr/>
          <p:nvPr/>
        </p:nvCxnSpPr>
        <p:spPr>
          <a:xfrm>
            <a:off x="3510116" y="3429000"/>
            <a:ext cx="5329084" cy="2509684"/>
          </a:xfrm>
          <a:prstGeom prst="straightConnector1">
            <a:avLst/>
          </a:prstGeom>
          <a:ln w="57150">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0240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68C4A-23B8-8463-5A78-853C7B33BEE1}"/>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F40CBE6-6B0E-81E7-F37C-182234E72585}"/>
              </a:ext>
            </a:extLst>
          </p:cNvPr>
          <p:cNvSpPr>
            <a:spLocks noGrp="1"/>
          </p:cNvSpPr>
          <p:nvPr>
            <p:ph idx="1"/>
          </p:nvPr>
        </p:nvSpPr>
        <p:spPr>
          <a:xfrm>
            <a:off x="2107432" y="491613"/>
            <a:ext cx="8915400" cy="3777622"/>
          </a:xfrm>
        </p:spPr>
        <p:txBody>
          <a:bodyPr/>
          <a:lstStyle/>
          <a:p>
            <a:r>
              <a:rPr lang="tr-TR"/>
              <a:t>Başka bir </a:t>
            </a:r>
            <a:r>
              <a:rPr lang="tr-TR" b="1"/>
              <a:t>RestAPI</a:t>
            </a:r>
            <a:r>
              <a:rPr lang="tr-TR"/>
              <a:t> örneğinde React Native ve Spring Boot arasında entegrasyon (veri transferi) </a:t>
            </a:r>
            <a:r>
              <a:rPr lang="tr-TR" b="1"/>
              <a:t>tumu</a:t>
            </a:r>
            <a:r>
              <a:rPr lang="tr-TR"/>
              <a:t> metodu ile sağlanmaktadır.</a:t>
            </a:r>
          </a:p>
        </p:txBody>
      </p:sp>
      <p:pic>
        <p:nvPicPr>
          <p:cNvPr id="4" name="Resim 3">
            <a:extLst>
              <a:ext uri="{FF2B5EF4-FFF2-40B4-BE49-F238E27FC236}">
                <a16:creationId xmlns:a16="http://schemas.microsoft.com/office/drawing/2014/main" id="{DF57AA83-E975-942E-EC18-6F59BB3B25ED}"/>
              </a:ext>
            </a:extLst>
          </p:cNvPr>
          <p:cNvPicPr>
            <a:picLocks noChangeAspect="1"/>
          </p:cNvPicPr>
          <p:nvPr/>
        </p:nvPicPr>
        <p:blipFill>
          <a:blip r:embed="rId2"/>
          <a:srcRect l="21732"/>
          <a:stretch>
            <a:fillRect/>
          </a:stretch>
        </p:blipFill>
        <p:spPr>
          <a:xfrm>
            <a:off x="5605693" y="1629011"/>
            <a:ext cx="7943159" cy="5401054"/>
          </a:xfrm>
          <a:prstGeom prst="rect">
            <a:avLst/>
          </a:prstGeom>
        </p:spPr>
      </p:pic>
      <p:pic>
        <p:nvPicPr>
          <p:cNvPr id="6" name="Resim 5">
            <a:extLst>
              <a:ext uri="{FF2B5EF4-FFF2-40B4-BE49-F238E27FC236}">
                <a16:creationId xmlns:a16="http://schemas.microsoft.com/office/drawing/2014/main" id="{8BB7192F-F736-9D01-B544-572CBE76D51C}"/>
              </a:ext>
            </a:extLst>
          </p:cNvPr>
          <p:cNvPicPr>
            <a:picLocks noChangeAspect="1"/>
          </p:cNvPicPr>
          <p:nvPr/>
        </p:nvPicPr>
        <p:blipFill>
          <a:blip r:embed="rId3"/>
          <a:stretch>
            <a:fillRect/>
          </a:stretch>
        </p:blipFill>
        <p:spPr>
          <a:xfrm>
            <a:off x="-1759974" y="1629011"/>
            <a:ext cx="7365667" cy="5635294"/>
          </a:xfrm>
          <a:prstGeom prst="rect">
            <a:avLst/>
          </a:prstGeom>
        </p:spPr>
      </p:pic>
      <p:cxnSp>
        <p:nvCxnSpPr>
          <p:cNvPr id="11" name="Düz Ok Bağlayıcısı 10">
            <a:extLst>
              <a:ext uri="{FF2B5EF4-FFF2-40B4-BE49-F238E27FC236}">
                <a16:creationId xmlns:a16="http://schemas.microsoft.com/office/drawing/2014/main" id="{CFC76A7B-081F-4797-77C1-AFBEA76F9E77}"/>
              </a:ext>
            </a:extLst>
          </p:cNvPr>
          <p:cNvCxnSpPr>
            <a:cxnSpLocks/>
          </p:cNvCxnSpPr>
          <p:nvPr/>
        </p:nvCxnSpPr>
        <p:spPr>
          <a:xfrm>
            <a:off x="3323303" y="2418735"/>
            <a:ext cx="5358581" cy="2261420"/>
          </a:xfrm>
          <a:prstGeom prst="straightConnector1">
            <a:avLst/>
          </a:prstGeom>
          <a:ln w="57150">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34768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AB224-18B8-C528-0FA4-ADF2524AEA58}"/>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0BA7FB9-D85A-DA43-BE42-07FB03F1C06E}"/>
              </a:ext>
            </a:extLst>
          </p:cNvPr>
          <p:cNvSpPr>
            <a:spLocks noGrp="1"/>
          </p:cNvSpPr>
          <p:nvPr>
            <p:ph idx="1"/>
          </p:nvPr>
        </p:nvSpPr>
        <p:spPr>
          <a:xfrm>
            <a:off x="2107432" y="491613"/>
            <a:ext cx="8915400" cy="3777622"/>
          </a:xfrm>
        </p:spPr>
        <p:txBody>
          <a:bodyPr/>
          <a:lstStyle/>
          <a:p>
            <a:r>
              <a:rPr lang="tr-TR" b="1"/>
              <a:t>send_mail</a:t>
            </a:r>
            <a:r>
              <a:rPr lang="tr-TR"/>
              <a:t> metodu ile Spring Boot ve Python arasında </a:t>
            </a:r>
            <a:r>
              <a:rPr lang="tr-TR" b="1"/>
              <a:t>RestAPI</a:t>
            </a:r>
            <a:r>
              <a:rPr lang="tr-TR"/>
              <a:t> üzerinden entegrasyon (veri transferi) sağlanmaktadır.</a:t>
            </a:r>
          </a:p>
        </p:txBody>
      </p:sp>
      <p:pic>
        <p:nvPicPr>
          <p:cNvPr id="4" name="Resim 3">
            <a:extLst>
              <a:ext uri="{FF2B5EF4-FFF2-40B4-BE49-F238E27FC236}">
                <a16:creationId xmlns:a16="http://schemas.microsoft.com/office/drawing/2014/main" id="{333128C7-F942-198C-B53E-A47D56E2C0B2}"/>
              </a:ext>
            </a:extLst>
          </p:cNvPr>
          <p:cNvPicPr>
            <a:picLocks noChangeAspect="1"/>
          </p:cNvPicPr>
          <p:nvPr/>
        </p:nvPicPr>
        <p:blipFill>
          <a:blip r:embed="rId2"/>
          <a:stretch>
            <a:fillRect/>
          </a:stretch>
        </p:blipFill>
        <p:spPr>
          <a:xfrm>
            <a:off x="6096000" y="1492977"/>
            <a:ext cx="7820845" cy="5949114"/>
          </a:xfrm>
          <a:prstGeom prst="rect">
            <a:avLst/>
          </a:prstGeom>
        </p:spPr>
      </p:pic>
      <p:pic>
        <p:nvPicPr>
          <p:cNvPr id="8" name="Resim 7">
            <a:extLst>
              <a:ext uri="{FF2B5EF4-FFF2-40B4-BE49-F238E27FC236}">
                <a16:creationId xmlns:a16="http://schemas.microsoft.com/office/drawing/2014/main" id="{C98BDC4F-6921-EBD9-766C-2ABF32B38006}"/>
              </a:ext>
            </a:extLst>
          </p:cNvPr>
          <p:cNvPicPr>
            <a:picLocks noChangeAspect="1"/>
          </p:cNvPicPr>
          <p:nvPr/>
        </p:nvPicPr>
        <p:blipFill>
          <a:blip r:embed="rId3"/>
          <a:stretch>
            <a:fillRect/>
          </a:stretch>
        </p:blipFill>
        <p:spPr>
          <a:xfrm>
            <a:off x="-1582994" y="1492976"/>
            <a:ext cx="7678994" cy="5740177"/>
          </a:xfrm>
          <a:prstGeom prst="rect">
            <a:avLst/>
          </a:prstGeom>
        </p:spPr>
      </p:pic>
      <p:cxnSp>
        <p:nvCxnSpPr>
          <p:cNvPr id="11" name="Düz Ok Bağlayıcısı 10">
            <a:extLst>
              <a:ext uri="{FF2B5EF4-FFF2-40B4-BE49-F238E27FC236}">
                <a16:creationId xmlns:a16="http://schemas.microsoft.com/office/drawing/2014/main" id="{8CEC0BE6-41DD-6BB6-1A04-47EB2C521ACB}"/>
              </a:ext>
            </a:extLst>
          </p:cNvPr>
          <p:cNvCxnSpPr>
            <a:cxnSpLocks/>
          </p:cNvCxnSpPr>
          <p:nvPr/>
        </p:nvCxnSpPr>
        <p:spPr>
          <a:xfrm>
            <a:off x="3982065" y="4119716"/>
            <a:ext cx="5053780" cy="245807"/>
          </a:xfrm>
          <a:prstGeom prst="straightConnector1">
            <a:avLst/>
          </a:prstGeom>
          <a:ln w="57150">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48587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928BAC2-B44C-D477-205E-59B1A3AEE5B9}"/>
              </a:ext>
            </a:extLst>
          </p:cNvPr>
          <p:cNvSpPr>
            <a:spLocks noGrp="1"/>
          </p:cNvSpPr>
          <p:nvPr>
            <p:ph type="title"/>
          </p:nvPr>
        </p:nvSpPr>
        <p:spPr/>
        <p:txBody>
          <a:bodyPr/>
          <a:lstStyle/>
          <a:p>
            <a:r>
              <a:rPr lang="tr-TR"/>
              <a:t>Mobil Uygulama .apk Oluşturma</a:t>
            </a:r>
          </a:p>
        </p:txBody>
      </p:sp>
      <p:sp>
        <p:nvSpPr>
          <p:cNvPr id="3" name="İçerik Yer Tutucusu 2">
            <a:extLst>
              <a:ext uri="{FF2B5EF4-FFF2-40B4-BE49-F238E27FC236}">
                <a16:creationId xmlns:a16="http://schemas.microsoft.com/office/drawing/2014/main" id="{9BE59F86-7965-5B9B-A1A0-517332E4D00C}"/>
              </a:ext>
            </a:extLst>
          </p:cNvPr>
          <p:cNvSpPr>
            <a:spLocks noGrp="1"/>
          </p:cNvSpPr>
          <p:nvPr>
            <p:ph idx="1"/>
          </p:nvPr>
        </p:nvSpPr>
        <p:spPr/>
        <p:txBody>
          <a:bodyPr>
            <a:normAutofit fontScale="92500" lnSpcReduction="20000"/>
          </a:bodyPr>
          <a:lstStyle/>
          <a:p>
            <a:r>
              <a:rPr lang="tr-TR"/>
              <a:t>Uygulamamızın build edip .apk’sini almak için ilk olarak Expo sunucularına deploy etmemiz gerekmektedir. </a:t>
            </a:r>
          </a:p>
          <a:p>
            <a:endParaRPr lang="tr-TR"/>
          </a:p>
          <a:p>
            <a:r>
              <a:rPr lang="tr-TR"/>
              <a:t>Expo sunucusuna deploy etmemizin nedeni .apk’yi kendi bilgisayarımızda oluşturmak için bilgisayarımıza Android Studio, Android SDK ve Build Tools gibi programları kurup gerekli karmaşık ayarlamaları yapmadan kısa bir şekilde tamamlamaktır.</a:t>
            </a:r>
          </a:p>
          <a:p>
            <a:endParaRPr lang="tr-TR"/>
          </a:p>
          <a:p>
            <a:r>
              <a:rPr lang="tr-TR"/>
              <a:t>Expo sunucularında .apk oluşturulduktan sonra Expo sunucusundaki linkten .apk’imizi indirebiliriz.</a:t>
            </a:r>
          </a:p>
          <a:p>
            <a:endParaRPr lang="tr-TR"/>
          </a:p>
          <a:p>
            <a:r>
              <a:rPr lang="tr-TR"/>
              <a:t>Bu işlemi sadece android için yapabilirsiniz, ios için bunu yapmak isterseniz .apk yerine .ipa oluşturmalısınız ve Apple Developer hesabı almanız gerekmektedir (yıllık ücretli)</a:t>
            </a:r>
          </a:p>
        </p:txBody>
      </p:sp>
    </p:spTree>
    <p:extLst>
      <p:ext uri="{BB962C8B-B14F-4D97-AF65-F5344CB8AC3E}">
        <p14:creationId xmlns:p14="http://schemas.microsoft.com/office/powerpoint/2010/main" val="10170506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C02C2-ED1F-F450-BCFF-10BD43FA73E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E6B8803-9039-CB53-BEAF-1DAD6F0C5135}"/>
              </a:ext>
            </a:extLst>
          </p:cNvPr>
          <p:cNvSpPr>
            <a:spLocks noGrp="1"/>
          </p:cNvSpPr>
          <p:nvPr>
            <p:ph type="title"/>
          </p:nvPr>
        </p:nvSpPr>
        <p:spPr/>
        <p:txBody>
          <a:bodyPr/>
          <a:lstStyle/>
          <a:p>
            <a:r>
              <a:rPr lang="tr-TR"/>
              <a:t>Mobil Uygulama .apk Oluşturma</a:t>
            </a:r>
          </a:p>
        </p:txBody>
      </p:sp>
      <p:sp>
        <p:nvSpPr>
          <p:cNvPr id="3" name="İçerik Yer Tutucusu 2">
            <a:extLst>
              <a:ext uri="{FF2B5EF4-FFF2-40B4-BE49-F238E27FC236}">
                <a16:creationId xmlns:a16="http://schemas.microsoft.com/office/drawing/2014/main" id="{0CBB52DE-85D7-9265-0393-DCF437691A07}"/>
              </a:ext>
            </a:extLst>
          </p:cNvPr>
          <p:cNvSpPr>
            <a:spLocks noGrp="1"/>
          </p:cNvSpPr>
          <p:nvPr>
            <p:ph idx="1"/>
          </p:nvPr>
        </p:nvSpPr>
        <p:spPr/>
        <p:txBody>
          <a:bodyPr>
            <a:normAutofit lnSpcReduction="10000"/>
          </a:bodyPr>
          <a:lstStyle/>
          <a:p>
            <a:r>
              <a:rPr lang="tr-TR"/>
              <a:t>.apk işlemi için ilk olarak Expo sunucusuna (EAS) bağlanmamız gerekmektedir.</a:t>
            </a:r>
          </a:p>
          <a:p>
            <a:endParaRPr lang="tr-TR"/>
          </a:p>
          <a:p>
            <a:r>
              <a:rPr lang="tr-TR"/>
              <a:t>Bunun için visual studio terminal’ini açıp aşağıdaki kodu yazıyoruz</a:t>
            </a:r>
          </a:p>
          <a:p>
            <a:pPr lvl="1"/>
            <a:r>
              <a:rPr lang="tr-TR"/>
              <a:t>npm install -g eas-cli</a:t>
            </a:r>
          </a:p>
          <a:p>
            <a:pPr lvl="1"/>
            <a:endParaRPr lang="tr-TR"/>
          </a:p>
          <a:p>
            <a:r>
              <a:rPr lang="tr-TR"/>
              <a:t>Daha sonra </a:t>
            </a:r>
            <a:r>
              <a:rPr lang="tr-TR">
                <a:hlinkClick r:id="rId2"/>
              </a:rPr>
              <a:t>Sign Up — Expo</a:t>
            </a:r>
            <a:r>
              <a:rPr lang="tr-TR"/>
              <a:t> (expo.dev/signup) Expo sitesine gidip kaydolmamız gerekmektedir.</a:t>
            </a:r>
          </a:p>
          <a:p>
            <a:endParaRPr lang="tr-TR"/>
          </a:p>
          <a:p>
            <a:r>
              <a:rPr lang="tr-TR"/>
              <a:t>Kaydolurken belirlediğimiz kullanıcı adı ve şifreyi EAS sunucusuna bağlanmak için kullanacaz.</a:t>
            </a:r>
          </a:p>
        </p:txBody>
      </p:sp>
    </p:spTree>
    <p:extLst>
      <p:ext uri="{BB962C8B-B14F-4D97-AF65-F5344CB8AC3E}">
        <p14:creationId xmlns:p14="http://schemas.microsoft.com/office/powerpoint/2010/main" val="29618856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1E7AD-946D-2B1F-E13E-B29571BC1CC4}"/>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2121305-9806-C7FE-6B24-A8F6159BB070}"/>
              </a:ext>
            </a:extLst>
          </p:cNvPr>
          <p:cNvSpPr>
            <a:spLocks noGrp="1"/>
          </p:cNvSpPr>
          <p:nvPr>
            <p:ph type="title"/>
          </p:nvPr>
        </p:nvSpPr>
        <p:spPr/>
        <p:txBody>
          <a:bodyPr/>
          <a:lstStyle/>
          <a:p>
            <a:r>
              <a:rPr lang="tr-TR"/>
              <a:t>Mobil Uygulama .apk Oluşturma</a:t>
            </a:r>
          </a:p>
        </p:txBody>
      </p:sp>
      <p:sp>
        <p:nvSpPr>
          <p:cNvPr id="3" name="İçerik Yer Tutucusu 2">
            <a:extLst>
              <a:ext uri="{FF2B5EF4-FFF2-40B4-BE49-F238E27FC236}">
                <a16:creationId xmlns:a16="http://schemas.microsoft.com/office/drawing/2014/main" id="{CA744884-BEC3-6AB6-B9FB-1C1D4C1D5A49}"/>
              </a:ext>
            </a:extLst>
          </p:cNvPr>
          <p:cNvSpPr>
            <a:spLocks noGrp="1"/>
          </p:cNvSpPr>
          <p:nvPr>
            <p:ph idx="1"/>
          </p:nvPr>
        </p:nvSpPr>
        <p:spPr/>
        <p:txBody>
          <a:bodyPr>
            <a:normAutofit lnSpcReduction="10000"/>
          </a:bodyPr>
          <a:lstStyle/>
          <a:p>
            <a:r>
              <a:rPr lang="tr-TR"/>
              <a:t>Kaydolduktan sonra visual studio terminalinde aşağıdaki kodu yazıyoruz</a:t>
            </a:r>
          </a:p>
          <a:p>
            <a:pPr lvl="1"/>
            <a:r>
              <a:rPr lang="tr-TR"/>
              <a:t>eas login</a:t>
            </a:r>
          </a:p>
          <a:p>
            <a:pPr lvl="1"/>
            <a:endParaRPr lang="tr-TR"/>
          </a:p>
          <a:p>
            <a:r>
              <a:rPr lang="tr-TR"/>
              <a:t>Başarılı login işleminde "Logged in" görmeniz gerekmektedir. Daha sonra aşağıdaki kodu terminalde yazıyoruz</a:t>
            </a:r>
          </a:p>
          <a:p>
            <a:pPr lvl="1"/>
            <a:r>
              <a:rPr lang="tr-TR"/>
              <a:t>eas build:configure</a:t>
            </a:r>
          </a:p>
          <a:p>
            <a:pPr lvl="1"/>
            <a:endParaRPr lang="tr-TR"/>
          </a:p>
          <a:p>
            <a:r>
              <a:rPr lang="tr-TR"/>
              <a:t>Bu kod yazdıktan sonra terminalde çıkan sorulara enter tuşuna basarak devam ediyoruz</a:t>
            </a:r>
          </a:p>
          <a:p>
            <a:endParaRPr lang="tr-TR"/>
          </a:p>
          <a:p>
            <a:r>
              <a:rPr lang="tr-TR"/>
              <a:t>En son "Generated eas.json" yazısını görmeniz gerekmektedir.</a:t>
            </a:r>
          </a:p>
        </p:txBody>
      </p:sp>
    </p:spTree>
    <p:extLst>
      <p:ext uri="{BB962C8B-B14F-4D97-AF65-F5344CB8AC3E}">
        <p14:creationId xmlns:p14="http://schemas.microsoft.com/office/powerpoint/2010/main" val="20975342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65DF3-5A24-5168-BAD6-FE281043EE8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2932AB8-FAF1-B035-EBC8-DFB94981958F}"/>
              </a:ext>
            </a:extLst>
          </p:cNvPr>
          <p:cNvSpPr>
            <a:spLocks noGrp="1"/>
          </p:cNvSpPr>
          <p:nvPr>
            <p:ph type="title"/>
          </p:nvPr>
        </p:nvSpPr>
        <p:spPr/>
        <p:txBody>
          <a:bodyPr/>
          <a:lstStyle/>
          <a:p>
            <a:r>
              <a:rPr lang="tr-TR"/>
              <a:t>Mobil Uygulama .apk Oluşturma</a:t>
            </a:r>
          </a:p>
        </p:txBody>
      </p:sp>
      <p:sp>
        <p:nvSpPr>
          <p:cNvPr id="3" name="İçerik Yer Tutucusu 2">
            <a:extLst>
              <a:ext uri="{FF2B5EF4-FFF2-40B4-BE49-F238E27FC236}">
                <a16:creationId xmlns:a16="http://schemas.microsoft.com/office/drawing/2014/main" id="{01988FC5-FA63-80F7-78BA-2825E8CB2007}"/>
              </a:ext>
            </a:extLst>
          </p:cNvPr>
          <p:cNvSpPr>
            <a:spLocks noGrp="1"/>
          </p:cNvSpPr>
          <p:nvPr>
            <p:ph idx="1"/>
          </p:nvPr>
        </p:nvSpPr>
        <p:spPr/>
        <p:txBody>
          <a:bodyPr>
            <a:normAutofit/>
          </a:bodyPr>
          <a:lstStyle/>
          <a:p>
            <a:r>
              <a:rPr lang="tr-TR"/>
              <a:t>Uygulamamızın bir IP adresine (Örn: EC2 IP'si) bağlanabilmesi için app.json dosyasına expo-build-properties eklentisi ve usesCleartextTraffic: true ayarı ekliyoruz. </a:t>
            </a:r>
          </a:p>
          <a:p>
            <a:endParaRPr lang="tr-TR"/>
          </a:p>
          <a:p>
            <a:r>
              <a:rPr lang="tr-TR"/>
              <a:t>Çünkü http</a:t>
            </a:r>
            <a:r>
              <a:rPr lang="tr-TR" b="1"/>
              <a:t>s</a:t>
            </a:r>
            <a:r>
              <a:rPr lang="tr-TR"/>
              <a:t> için gerekli güvenlik önlemlerini sunucuya eklemedik ve şu anda http üzerinden bağlanacaz.</a:t>
            </a:r>
          </a:p>
          <a:p>
            <a:endParaRPr lang="tr-TR"/>
          </a:p>
          <a:p>
            <a:pPr marL="0" indent="0">
              <a:buNone/>
            </a:pPr>
            <a:endParaRPr lang="tr-TR"/>
          </a:p>
          <a:p>
            <a:endParaRPr lang="tr-TR"/>
          </a:p>
          <a:p>
            <a:endParaRPr lang="tr-TR"/>
          </a:p>
        </p:txBody>
      </p:sp>
    </p:spTree>
    <p:extLst>
      <p:ext uri="{BB962C8B-B14F-4D97-AF65-F5344CB8AC3E}">
        <p14:creationId xmlns:p14="http://schemas.microsoft.com/office/powerpoint/2010/main" val="20100381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B1240-370B-24E2-CF39-0970AF69443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3DB22BC-1D5E-BF89-7BE8-FB51B465F5C8}"/>
              </a:ext>
            </a:extLst>
          </p:cNvPr>
          <p:cNvSpPr>
            <a:spLocks noGrp="1"/>
          </p:cNvSpPr>
          <p:nvPr>
            <p:ph type="title"/>
          </p:nvPr>
        </p:nvSpPr>
        <p:spPr/>
        <p:txBody>
          <a:bodyPr/>
          <a:lstStyle/>
          <a:p>
            <a:r>
              <a:rPr lang="tr-TR"/>
              <a:t>Mobil Uygulama .apk Oluşturma</a:t>
            </a:r>
          </a:p>
        </p:txBody>
      </p:sp>
      <p:sp>
        <p:nvSpPr>
          <p:cNvPr id="3" name="İçerik Yer Tutucusu 2">
            <a:extLst>
              <a:ext uri="{FF2B5EF4-FFF2-40B4-BE49-F238E27FC236}">
                <a16:creationId xmlns:a16="http://schemas.microsoft.com/office/drawing/2014/main" id="{E61111A8-B272-40C3-FCB7-5C967A90ECC4}"/>
              </a:ext>
            </a:extLst>
          </p:cNvPr>
          <p:cNvSpPr>
            <a:spLocks noGrp="1"/>
          </p:cNvSpPr>
          <p:nvPr>
            <p:ph idx="1"/>
          </p:nvPr>
        </p:nvSpPr>
        <p:spPr>
          <a:xfrm>
            <a:off x="2589212" y="2133600"/>
            <a:ext cx="8915400" cy="4355690"/>
          </a:xfrm>
        </p:spPr>
        <p:txBody>
          <a:bodyPr>
            <a:normAutofit/>
          </a:bodyPr>
          <a:lstStyle/>
          <a:p>
            <a:r>
              <a:rPr lang="tr-TR"/>
              <a:t>Bir sonraki slaytta bulunan app.json dosyasının içeriğine aşağıdaki kodu ekleyecez</a:t>
            </a:r>
          </a:p>
          <a:p>
            <a:endParaRPr lang="tr-TR"/>
          </a:p>
          <a:p>
            <a:r>
              <a:rPr lang="tr-TR"/>
              <a:t>[</a:t>
            </a:r>
          </a:p>
          <a:p>
            <a:r>
              <a:rPr lang="tr-TR"/>
              <a:t>  "expo-build-properties",</a:t>
            </a:r>
          </a:p>
          <a:p>
            <a:r>
              <a:rPr lang="tr-TR"/>
              <a:t>  {</a:t>
            </a:r>
          </a:p>
          <a:p>
            <a:r>
              <a:rPr lang="tr-TR"/>
              <a:t>    "android": {</a:t>
            </a:r>
          </a:p>
          <a:p>
            <a:r>
              <a:rPr lang="tr-TR"/>
              <a:t>      "usesCleartextTraffic": true</a:t>
            </a:r>
          </a:p>
          <a:p>
            <a:r>
              <a:rPr lang="tr-TR"/>
              <a:t>    }</a:t>
            </a:r>
          </a:p>
          <a:p>
            <a:r>
              <a:rPr lang="tr-TR"/>
              <a:t>  }</a:t>
            </a:r>
          </a:p>
          <a:p>
            <a:r>
              <a:rPr lang="tr-TR"/>
              <a:t>],</a:t>
            </a:r>
          </a:p>
          <a:p>
            <a:endParaRPr lang="tr-TR"/>
          </a:p>
          <a:p>
            <a:endParaRPr lang="tr-TR"/>
          </a:p>
          <a:p>
            <a:endParaRPr lang="tr-TR"/>
          </a:p>
          <a:p>
            <a:endParaRPr lang="tr-TR"/>
          </a:p>
        </p:txBody>
      </p:sp>
    </p:spTree>
    <p:extLst>
      <p:ext uri="{BB962C8B-B14F-4D97-AF65-F5344CB8AC3E}">
        <p14:creationId xmlns:p14="http://schemas.microsoft.com/office/powerpoint/2010/main" val="7397691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6EBA-591C-5811-8BF2-92ED1D338AD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535E0C2-26C8-0A35-41A4-FCDF9A47E5C5}"/>
              </a:ext>
            </a:extLst>
          </p:cNvPr>
          <p:cNvSpPr>
            <a:spLocks noGrp="1"/>
          </p:cNvSpPr>
          <p:nvPr>
            <p:ph type="title"/>
          </p:nvPr>
        </p:nvSpPr>
        <p:spPr/>
        <p:txBody>
          <a:bodyPr/>
          <a:lstStyle/>
          <a:p>
            <a:r>
              <a:rPr lang="tr-TR"/>
              <a:t>Mobil Uygulama .apk Oluşturma</a:t>
            </a:r>
          </a:p>
        </p:txBody>
      </p:sp>
      <p:sp>
        <p:nvSpPr>
          <p:cNvPr id="3" name="İçerik Yer Tutucusu 2">
            <a:extLst>
              <a:ext uri="{FF2B5EF4-FFF2-40B4-BE49-F238E27FC236}">
                <a16:creationId xmlns:a16="http://schemas.microsoft.com/office/drawing/2014/main" id="{B805FBEF-EDB4-C837-02BD-0CE97E81FA70}"/>
              </a:ext>
            </a:extLst>
          </p:cNvPr>
          <p:cNvSpPr>
            <a:spLocks noGrp="1"/>
          </p:cNvSpPr>
          <p:nvPr>
            <p:ph idx="1"/>
          </p:nvPr>
        </p:nvSpPr>
        <p:spPr>
          <a:xfrm>
            <a:off x="2589212" y="2133600"/>
            <a:ext cx="8915400" cy="4355690"/>
          </a:xfrm>
        </p:spPr>
        <p:txBody>
          <a:bodyPr>
            <a:normAutofit/>
          </a:bodyPr>
          <a:lstStyle/>
          <a:p>
            <a:r>
              <a:rPr lang="tr-TR"/>
              <a:t>Dikkatli bir şekilde ekleyelim çünkü JSON formatında her eklenen kod bir önceki kod ile virgül ile ayrılır. Sadece en sona virgül eklenmez</a:t>
            </a:r>
          </a:p>
          <a:p>
            <a:endParaRPr lang="tr-TR"/>
          </a:p>
          <a:p>
            <a:r>
              <a:rPr lang="tr-TR"/>
              <a:t>app.json dosyanız ile karşılaştırmak için app.json dosyası bir sonraki slaytta verilmiştir.</a:t>
            </a:r>
          </a:p>
          <a:p>
            <a:endParaRPr lang="tr-TR"/>
          </a:p>
          <a:p>
            <a:endParaRPr lang="tr-TR"/>
          </a:p>
        </p:txBody>
      </p:sp>
    </p:spTree>
    <p:extLst>
      <p:ext uri="{BB962C8B-B14F-4D97-AF65-F5344CB8AC3E}">
        <p14:creationId xmlns:p14="http://schemas.microsoft.com/office/powerpoint/2010/main" val="12187375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205E931E-CEA3-91C1-B390-FB1C9F3D95FC}"/>
              </a:ext>
            </a:extLst>
          </p:cNvPr>
          <p:cNvSpPr txBox="1"/>
          <p:nvPr/>
        </p:nvSpPr>
        <p:spPr>
          <a:xfrm>
            <a:off x="3048000" y="-2905725"/>
            <a:ext cx="6096000" cy="12674367"/>
          </a:xfrm>
          <a:prstGeom prst="rect">
            <a:avLst/>
          </a:prstGeom>
          <a:noFill/>
        </p:spPr>
        <p:txBody>
          <a:bodyPr wrap="square">
            <a:spAutoFit/>
          </a:bodyPr>
          <a:lstStyle/>
          <a:p>
            <a:pPr>
              <a:lnSpc>
                <a:spcPts val="1425"/>
              </a:lnSpc>
              <a:buNone/>
            </a:pP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"expo"</a:t>
            </a: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"name"</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"eKitapMobil"</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"slug"</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"eKitapMobil"</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"version"</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"1.0.4"</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"orientation"</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"portrait"</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"icon"</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"./assets/images/icon.png"</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"scheme"</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"ekitapmobil"</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"userInterfaceStyle"</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"automatic"</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"newArchEnabled"</a:t>
            </a:r>
            <a:r>
              <a:rPr lang="tr-TR" b="0">
                <a:solidFill>
                  <a:srgbClr val="3B3B3B"/>
                </a:solidFill>
                <a:effectLst/>
                <a:latin typeface="Consolas" panose="020B0609020204030204" pitchFamily="49" charset="0"/>
              </a:rPr>
              <a:t>: </a:t>
            </a:r>
            <a:r>
              <a:rPr lang="tr-TR" b="0">
                <a:solidFill>
                  <a:srgbClr val="0000FF"/>
                </a:solidFill>
                <a:effectLst/>
                <a:latin typeface="Consolas" panose="020B0609020204030204" pitchFamily="49" charset="0"/>
              </a:rPr>
              <a:t>true</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"ios"</a:t>
            </a: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"supportsTablet"</a:t>
            </a:r>
            <a:r>
              <a:rPr lang="tr-TR" b="0">
                <a:solidFill>
                  <a:srgbClr val="3B3B3B"/>
                </a:solidFill>
                <a:effectLst/>
                <a:latin typeface="Consolas" panose="020B0609020204030204" pitchFamily="49" charset="0"/>
              </a:rPr>
              <a:t>: </a:t>
            </a:r>
            <a:r>
              <a:rPr lang="tr-TR" b="0">
                <a:solidFill>
                  <a:srgbClr val="0000FF"/>
                </a:solidFill>
                <a:effectLst/>
                <a:latin typeface="Consolas" panose="020B0609020204030204" pitchFamily="49" charset="0"/>
              </a:rPr>
              <a:t>true</a:t>
            </a:r>
            <a:endParaRPr lang="tr-TR" b="0">
              <a:solidFill>
                <a:srgbClr val="3B3B3B"/>
              </a:solidFill>
              <a:effectLst/>
              <a:latin typeface="Consolas" panose="020B0609020204030204" pitchFamily="49" charset="0"/>
            </a:endParaRP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"android"</a:t>
            </a: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"package"</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"com.hvural.eKitapMobil"</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"versionCode"</a:t>
            </a:r>
            <a:r>
              <a:rPr lang="tr-TR" b="0">
                <a:solidFill>
                  <a:srgbClr val="3B3B3B"/>
                </a:solidFill>
                <a:effectLst/>
                <a:latin typeface="Consolas" panose="020B0609020204030204" pitchFamily="49" charset="0"/>
              </a:rPr>
              <a:t>: </a:t>
            </a:r>
            <a:r>
              <a:rPr lang="tr-TR" b="0">
                <a:solidFill>
                  <a:srgbClr val="098658"/>
                </a:solidFill>
                <a:effectLst/>
                <a:latin typeface="Consolas" panose="020B0609020204030204" pitchFamily="49" charset="0"/>
              </a:rPr>
              <a:t>4</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"adaptiveIcon"</a:t>
            </a: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"backgroundColor"</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"#E6F4FE"</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"foregroundImage"</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"./assets/images/android-icon-foreground.png"</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"backgroundImage"</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"./assets/images/android-icon-background.png"</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"monochromeImage"</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"./assets/images/android-icon-monochrome.png"</a:t>
            </a:r>
            <a:endParaRPr lang="tr-TR" b="0">
              <a:solidFill>
                <a:srgbClr val="3B3B3B"/>
              </a:solidFill>
              <a:effectLst/>
              <a:latin typeface="Consolas" panose="020B0609020204030204" pitchFamily="49" charset="0"/>
            </a:endParaRP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"edgeToEdgeEnabled"</a:t>
            </a:r>
            <a:r>
              <a:rPr lang="tr-TR" b="0">
                <a:solidFill>
                  <a:srgbClr val="3B3B3B"/>
                </a:solidFill>
                <a:effectLst/>
                <a:latin typeface="Consolas" panose="020B0609020204030204" pitchFamily="49" charset="0"/>
              </a:rPr>
              <a:t>: </a:t>
            </a:r>
            <a:r>
              <a:rPr lang="tr-TR" b="0">
                <a:solidFill>
                  <a:srgbClr val="0000FF"/>
                </a:solidFill>
                <a:effectLst/>
                <a:latin typeface="Consolas" panose="020B0609020204030204" pitchFamily="49" charset="0"/>
              </a:rPr>
              <a:t>true</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"predictiveBackGestureEnabled"</a:t>
            </a:r>
            <a:r>
              <a:rPr lang="tr-TR" b="0">
                <a:solidFill>
                  <a:srgbClr val="3B3B3B"/>
                </a:solidFill>
                <a:effectLst/>
                <a:latin typeface="Consolas" panose="020B0609020204030204" pitchFamily="49" charset="0"/>
              </a:rPr>
              <a:t>: </a:t>
            </a:r>
            <a:r>
              <a:rPr lang="tr-TR" b="0">
                <a:solidFill>
                  <a:srgbClr val="0000FF"/>
                </a:solidFill>
                <a:effectLst/>
                <a:latin typeface="Consolas" panose="020B0609020204030204" pitchFamily="49" charset="0"/>
              </a:rPr>
              <a:t>false</a:t>
            </a:r>
            <a:endParaRPr lang="tr-TR" b="0">
              <a:solidFill>
                <a:srgbClr val="3B3B3B"/>
              </a:solidFill>
              <a:effectLst/>
              <a:latin typeface="Consolas" panose="020B0609020204030204" pitchFamily="49" charset="0"/>
            </a:endParaRP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"web"</a:t>
            </a: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"output"</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"static"</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"favicon"</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"./assets/images/favicon.png"</a:t>
            </a:r>
            <a:endParaRPr lang="tr-TR" b="0">
              <a:solidFill>
                <a:srgbClr val="3B3B3B"/>
              </a:solidFill>
              <a:effectLst/>
              <a:latin typeface="Consolas" panose="020B0609020204030204" pitchFamily="49" charset="0"/>
            </a:endParaRP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"plugins"</a:t>
            </a: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"expo-router"</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"expo-web-browser"</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"expo-build-properties"</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"android"</a:t>
            </a: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"usesCleartextTraffic"</a:t>
            </a:r>
            <a:r>
              <a:rPr lang="tr-TR" b="0">
                <a:solidFill>
                  <a:srgbClr val="3B3B3B"/>
                </a:solidFill>
                <a:effectLst/>
                <a:latin typeface="Consolas" panose="020B0609020204030204" pitchFamily="49" charset="0"/>
              </a:rPr>
              <a:t>: </a:t>
            </a:r>
            <a:r>
              <a:rPr lang="tr-TR" b="0">
                <a:solidFill>
                  <a:srgbClr val="0000FF"/>
                </a:solidFill>
                <a:effectLst/>
                <a:latin typeface="Consolas" panose="020B0609020204030204" pitchFamily="49" charset="0"/>
              </a:rPr>
              <a:t>true</a:t>
            </a:r>
            <a:endParaRPr lang="tr-TR" b="0">
              <a:solidFill>
                <a:srgbClr val="3B3B3B"/>
              </a:solidFill>
              <a:effectLst/>
              <a:latin typeface="Consolas" panose="020B0609020204030204" pitchFamily="49" charset="0"/>
            </a:endParaRP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"expo-splash-screen"</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"image"</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"./assets/images/splash-icon.png"</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"imageWidth"</a:t>
            </a:r>
            <a:r>
              <a:rPr lang="tr-TR" b="0">
                <a:solidFill>
                  <a:srgbClr val="3B3B3B"/>
                </a:solidFill>
                <a:effectLst/>
                <a:latin typeface="Consolas" panose="020B0609020204030204" pitchFamily="49" charset="0"/>
              </a:rPr>
              <a:t>: </a:t>
            </a:r>
            <a:r>
              <a:rPr lang="tr-TR" b="0">
                <a:solidFill>
                  <a:srgbClr val="098658"/>
                </a:solidFill>
                <a:effectLst/>
                <a:latin typeface="Consolas" panose="020B0609020204030204" pitchFamily="49" charset="0"/>
              </a:rPr>
              <a:t>200</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"resizeMode"</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"contain"</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"backgroundColor"</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"#ffffff"</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"dark"</a:t>
            </a: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"backgroundColor"</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"#000000"</a:t>
            </a:r>
            <a:endParaRPr lang="tr-TR" b="0">
              <a:solidFill>
                <a:srgbClr val="3B3B3B"/>
              </a:solidFill>
              <a:effectLst/>
              <a:latin typeface="Consolas" panose="020B0609020204030204" pitchFamily="49" charset="0"/>
            </a:endParaRP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"experiments"</a:t>
            </a: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"typedRoutes"</a:t>
            </a:r>
            <a:r>
              <a:rPr lang="tr-TR" b="0">
                <a:solidFill>
                  <a:srgbClr val="3B3B3B"/>
                </a:solidFill>
                <a:effectLst/>
                <a:latin typeface="Consolas" panose="020B0609020204030204" pitchFamily="49" charset="0"/>
              </a:rPr>
              <a:t>: </a:t>
            </a:r>
            <a:r>
              <a:rPr lang="tr-TR" b="0">
                <a:solidFill>
                  <a:srgbClr val="0000FF"/>
                </a:solidFill>
                <a:effectLst/>
                <a:latin typeface="Consolas" panose="020B0609020204030204" pitchFamily="49" charset="0"/>
              </a:rPr>
              <a:t>true</a:t>
            </a:r>
            <a:r>
              <a:rPr lang="tr-TR" b="0">
                <a:solidFill>
                  <a:srgbClr val="3B3B3B"/>
                </a:solidFill>
                <a:effectLst/>
                <a:latin typeface="Consolas" panose="020B0609020204030204" pitchFamily="49" charset="0"/>
              </a:rPr>
              <a:t>,</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"reactCompiler"</a:t>
            </a:r>
            <a:r>
              <a:rPr lang="tr-TR" b="0">
                <a:solidFill>
                  <a:srgbClr val="3B3B3B"/>
                </a:solidFill>
                <a:effectLst/>
                <a:latin typeface="Consolas" panose="020B0609020204030204" pitchFamily="49" charset="0"/>
              </a:rPr>
              <a:t>: </a:t>
            </a:r>
            <a:r>
              <a:rPr lang="tr-TR" b="0">
                <a:solidFill>
                  <a:srgbClr val="0000FF"/>
                </a:solidFill>
                <a:effectLst/>
                <a:latin typeface="Consolas" panose="020B0609020204030204" pitchFamily="49" charset="0"/>
              </a:rPr>
              <a:t>true</a:t>
            </a:r>
            <a:endParaRPr lang="tr-TR" b="0">
              <a:solidFill>
                <a:srgbClr val="3B3B3B"/>
              </a:solidFill>
              <a:effectLst/>
              <a:latin typeface="Consolas" panose="020B0609020204030204" pitchFamily="49" charset="0"/>
            </a:endParaRP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"extra"</a:t>
            </a: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"router"</a:t>
            </a: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"eas"</a:t>
            </a: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r>
              <a:rPr lang="tr-TR" b="0">
                <a:solidFill>
                  <a:srgbClr val="0451A5"/>
                </a:solidFill>
                <a:effectLst/>
                <a:latin typeface="Consolas" panose="020B0609020204030204" pitchFamily="49" charset="0"/>
              </a:rPr>
              <a:t>"projectId"</a:t>
            </a:r>
            <a:r>
              <a:rPr lang="tr-TR" b="0">
                <a:solidFill>
                  <a:srgbClr val="3B3B3B"/>
                </a:solidFill>
                <a:effectLst/>
                <a:latin typeface="Consolas" panose="020B0609020204030204" pitchFamily="49" charset="0"/>
              </a:rPr>
              <a:t>: </a:t>
            </a:r>
            <a:r>
              <a:rPr lang="tr-TR" b="0">
                <a:solidFill>
                  <a:srgbClr val="A31515"/>
                </a:solidFill>
                <a:effectLst/>
                <a:latin typeface="Consolas" panose="020B0609020204030204" pitchFamily="49" charset="0"/>
              </a:rPr>
              <a:t>"28ca76c0-27a7-4595-87eb-760a3270c0c9"</a:t>
            </a:r>
            <a:endParaRPr lang="tr-TR" b="0">
              <a:solidFill>
                <a:srgbClr val="3B3B3B"/>
              </a:solidFill>
              <a:effectLst/>
              <a:latin typeface="Consolas" panose="020B0609020204030204" pitchFamily="49" charset="0"/>
            </a:endParaRP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  }</a:t>
            </a:r>
          </a:p>
          <a:p>
            <a:pPr>
              <a:lnSpc>
                <a:spcPts val="1425"/>
              </a:lnSpc>
              <a:buNone/>
            </a:pPr>
            <a:r>
              <a:rPr lang="tr-TR" b="0">
                <a:solidFill>
                  <a:srgbClr val="3B3B3B"/>
                </a:solidFill>
                <a:effectLst/>
                <a:latin typeface="Consolas" panose="020B0609020204030204" pitchFamily="49" charset="0"/>
              </a:rPr>
              <a:t>}</a:t>
            </a:r>
          </a:p>
        </p:txBody>
      </p:sp>
    </p:spTree>
    <p:extLst>
      <p:ext uri="{BB962C8B-B14F-4D97-AF65-F5344CB8AC3E}">
        <p14:creationId xmlns:p14="http://schemas.microsoft.com/office/powerpoint/2010/main" val="22288077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373AD-4E02-2D8A-7311-C9CDC7219072}"/>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53712B70-D3AD-6875-1CE9-13BC2B260B0A}"/>
              </a:ext>
            </a:extLst>
          </p:cNvPr>
          <p:cNvSpPr>
            <a:spLocks noGrp="1"/>
          </p:cNvSpPr>
          <p:nvPr>
            <p:ph type="title"/>
          </p:nvPr>
        </p:nvSpPr>
        <p:spPr/>
        <p:txBody>
          <a:bodyPr/>
          <a:lstStyle/>
          <a:p>
            <a:r>
              <a:rPr lang="tr-TR"/>
              <a:t>Mobil Uygulama .apk Oluşturma</a:t>
            </a:r>
          </a:p>
        </p:txBody>
      </p:sp>
      <p:sp>
        <p:nvSpPr>
          <p:cNvPr id="3" name="İçerik Yer Tutucusu 2">
            <a:extLst>
              <a:ext uri="{FF2B5EF4-FFF2-40B4-BE49-F238E27FC236}">
                <a16:creationId xmlns:a16="http://schemas.microsoft.com/office/drawing/2014/main" id="{9AEEDC37-2D21-C92C-FC52-10009A64CAB8}"/>
              </a:ext>
            </a:extLst>
          </p:cNvPr>
          <p:cNvSpPr>
            <a:spLocks noGrp="1"/>
          </p:cNvSpPr>
          <p:nvPr>
            <p:ph idx="1"/>
          </p:nvPr>
        </p:nvSpPr>
        <p:spPr>
          <a:xfrm>
            <a:off x="2589212" y="1759975"/>
            <a:ext cx="8915400" cy="3777622"/>
          </a:xfrm>
        </p:spPr>
        <p:txBody>
          <a:bodyPr>
            <a:normAutofit fontScale="85000" lnSpcReduction="20000"/>
          </a:bodyPr>
          <a:lstStyle/>
          <a:p>
            <a:r>
              <a:rPr lang="tr-TR"/>
              <a:t>Daha sonra terminal’e aşağıdaki kodu yazıyoruz</a:t>
            </a:r>
          </a:p>
          <a:p>
            <a:pPr lvl="1"/>
            <a:r>
              <a:rPr lang="en-US"/>
              <a:t>eas build -p android --profile preview</a:t>
            </a:r>
            <a:endParaRPr lang="tr-TR"/>
          </a:p>
          <a:p>
            <a:pPr lvl="1"/>
            <a:endParaRPr lang="tr-TR"/>
          </a:p>
          <a:p>
            <a:r>
              <a:rPr lang="tr-TR"/>
              <a:t>Bu kod çalıştıktan sonra (tahmini çalışma süresi 10 dakika ) terminalde bir link görmeniz gerekmektedir</a:t>
            </a:r>
          </a:p>
          <a:p>
            <a:endParaRPr lang="tr-TR"/>
          </a:p>
          <a:p>
            <a:r>
              <a:rPr lang="tr-TR"/>
              <a:t>Not: Uygulamanız bir hata aldığı zaman yukarıdaki eas build…. komutunu çalıştırmadan önce versiyonu 1 arttıralım (1.0.4 ise 1.0.5 olacak şekilde)</a:t>
            </a:r>
          </a:p>
          <a:p>
            <a:pPr lvl="1"/>
            <a:r>
              <a:rPr lang="tr-TR"/>
              <a:t>"version": "1.0.4 "</a:t>
            </a:r>
          </a:p>
          <a:p>
            <a:pPr lvl="1"/>
            <a:endParaRPr lang="tr-TR"/>
          </a:p>
          <a:p>
            <a:r>
              <a:rPr lang="tr-TR"/>
              <a:t>ve dosyanın içerisindeki şu kod satırında bulunan versiyon değerini de aynı değer ile güncelleyelim</a:t>
            </a:r>
          </a:p>
          <a:p>
            <a:pPr lvl="1"/>
            <a:r>
              <a:rPr lang="tr-TR"/>
              <a:t>"versionCode": 4, ("versionCode": 5 olacak şekilde)</a:t>
            </a:r>
          </a:p>
          <a:p>
            <a:pPr lvl="1"/>
            <a:endParaRPr lang="tr-TR"/>
          </a:p>
          <a:p>
            <a:pPr lvl="1"/>
            <a:endParaRPr lang="tr-TR"/>
          </a:p>
          <a:p>
            <a:endParaRPr lang="tr-TR"/>
          </a:p>
          <a:p>
            <a:endParaRPr lang="tr-TR"/>
          </a:p>
          <a:p>
            <a:endParaRPr lang="tr-TR"/>
          </a:p>
        </p:txBody>
      </p:sp>
    </p:spTree>
    <p:extLst>
      <p:ext uri="{BB962C8B-B14F-4D97-AF65-F5344CB8AC3E}">
        <p14:creationId xmlns:p14="http://schemas.microsoft.com/office/powerpoint/2010/main" val="23778619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A96CC-AD8A-BAB1-71D9-2840434364A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F91A7667-4990-96B3-53C5-71079C35DDA5}"/>
              </a:ext>
            </a:extLst>
          </p:cNvPr>
          <p:cNvSpPr>
            <a:spLocks noGrp="1"/>
          </p:cNvSpPr>
          <p:nvPr>
            <p:ph type="title"/>
          </p:nvPr>
        </p:nvSpPr>
        <p:spPr/>
        <p:txBody>
          <a:bodyPr/>
          <a:lstStyle/>
          <a:p>
            <a:r>
              <a:rPr lang="tr-TR"/>
              <a:t>Mobil Uygulama .apk Oluşturma</a:t>
            </a:r>
          </a:p>
        </p:txBody>
      </p:sp>
      <p:sp>
        <p:nvSpPr>
          <p:cNvPr id="3" name="İçerik Yer Tutucusu 2">
            <a:extLst>
              <a:ext uri="{FF2B5EF4-FFF2-40B4-BE49-F238E27FC236}">
                <a16:creationId xmlns:a16="http://schemas.microsoft.com/office/drawing/2014/main" id="{0F386773-835B-C798-1827-FD4730C946EC}"/>
              </a:ext>
            </a:extLst>
          </p:cNvPr>
          <p:cNvSpPr>
            <a:spLocks noGrp="1"/>
          </p:cNvSpPr>
          <p:nvPr>
            <p:ph idx="1"/>
          </p:nvPr>
        </p:nvSpPr>
        <p:spPr>
          <a:xfrm>
            <a:off x="2589212" y="1759975"/>
            <a:ext cx="8915400" cy="3777622"/>
          </a:xfrm>
        </p:spPr>
        <p:txBody>
          <a:bodyPr>
            <a:normAutofit/>
          </a:bodyPr>
          <a:lstStyle/>
          <a:p>
            <a:r>
              <a:rPr lang="tr-TR"/>
              <a:t>Linki açtıktan sonra ekranda install butonuna basınız ve çıkan qr kodu okutunuz, telefonunuzdan gerekli izinleri verdikten sonra .apk uygulamanızı kullanabileceksiniz</a:t>
            </a:r>
          </a:p>
        </p:txBody>
      </p:sp>
      <p:pic>
        <p:nvPicPr>
          <p:cNvPr id="5" name="Resim 4">
            <a:extLst>
              <a:ext uri="{FF2B5EF4-FFF2-40B4-BE49-F238E27FC236}">
                <a16:creationId xmlns:a16="http://schemas.microsoft.com/office/drawing/2014/main" id="{0AFC43DF-660D-9644-5CC2-9F085C0B972C}"/>
              </a:ext>
            </a:extLst>
          </p:cNvPr>
          <p:cNvPicPr>
            <a:picLocks noChangeAspect="1"/>
          </p:cNvPicPr>
          <p:nvPr/>
        </p:nvPicPr>
        <p:blipFill>
          <a:blip r:embed="rId2"/>
          <a:stretch>
            <a:fillRect/>
          </a:stretch>
        </p:blipFill>
        <p:spPr>
          <a:xfrm>
            <a:off x="0" y="2753031"/>
            <a:ext cx="12192000" cy="4999289"/>
          </a:xfrm>
          <a:prstGeom prst="rect">
            <a:avLst/>
          </a:prstGeom>
        </p:spPr>
      </p:pic>
    </p:spTree>
    <p:extLst>
      <p:ext uri="{BB962C8B-B14F-4D97-AF65-F5344CB8AC3E}">
        <p14:creationId xmlns:p14="http://schemas.microsoft.com/office/powerpoint/2010/main" val="30763630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2AF4BE8-3C22-5688-9162-A6E7B4427002}"/>
              </a:ext>
            </a:extLst>
          </p:cNvPr>
          <p:cNvSpPr>
            <a:spLocks noGrp="1"/>
          </p:cNvSpPr>
          <p:nvPr>
            <p:ph type="title"/>
          </p:nvPr>
        </p:nvSpPr>
        <p:spPr/>
        <p:txBody>
          <a:bodyPr/>
          <a:lstStyle/>
          <a:p>
            <a:r>
              <a:rPr lang="tr-TR"/>
              <a:t>.apk dosyası</a:t>
            </a:r>
          </a:p>
        </p:txBody>
      </p:sp>
      <p:sp>
        <p:nvSpPr>
          <p:cNvPr id="3" name="İçerik Yer Tutucusu 2">
            <a:extLst>
              <a:ext uri="{FF2B5EF4-FFF2-40B4-BE49-F238E27FC236}">
                <a16:creationId xmlns:a16="http://schemas.microsoft.com/office/drawing/2014/main" id="{5DC3D4A7-B838-91EA-DD97-718EDCB1D821}"/>
              </a:ext>
            </a:extLst>
          </p:cNvPr>
          <p:cNvSpPr>
            <a:spLocks noGrp="1"/>
          </p:cNvSpPr>
          <p:nvPr>
            <p:ph idx="1"/>
          </p:nvPr>
        </p:nvSpPr>
        <p:spPr/>
        <p:txBody>
          <a:bodyPr/>
          <a:lstStyle/>
          <a:p>
            <a:r>
              <a:rPr lang="tr-TR"/>
              <a:t>Mail olarak bana .apk dosyasını göndereceksiniz </a:t>
            </a:r>
          </a:p>
          <a:p>
            <a:endParaRPr lang="tr-TR"/>
          </a:p>
          <a:p>
            <a:endParaRPr lang="tr-TR"/>
          </a:p>
        </p:txBody>
      </p:sp>
    </p:spTree>
    <p:extLst>
      <p:ext uri="{BB962C8B-B14F-4D97-AF65-F5344CB8AC3E}">
        <p14:creationId xmlns:p14="http://schemas.microsoft.com/office/powerpoint/2010/main" val="2171579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D2E1587-2952-2DCE-4CDA-5DC0831F6AB3}"/>
              </a:ext>
            </a:extLst>
          </p:cNvPr>
          <p:cNvSpPr>
            <a:spLocks noGrp="1"/>
          </p:cNvSpPr>
          <p:nvPr>
            <p:ph type="title"/>
          </p:nvPr>
        </p:nvSpPr>
        <p:spPr/>
        <p:txBody>
          <a:bodyPr/>
          <a:lstStyle/>
          <a:p>
            <a:r>
              <a:rPr lang="tr-TR"/>
              <a:t>Continuous Integration/Continuous Development (github actions)</a:t>
            </a:r>
          </a:p>
        </p:txBody>
      </p:sp>
      <p:sp>
        <p:nvSpPr>
          <p:cNvPr id="3" name="İçerik Yer Tutucusu 2">
            <a:extLst>
              <a:ext uri="{FF2B5EF4-FFF2-40B4-BE49-F238E27FC236}">
                <a16:creationId xmlns:a16="http://schemas.microsoft.com/office/drawing/2014/main" id="{AB3F241B-CE24-AB42-9D06-76EA1DC6C815}"/>
              </a:ext>
            </a:extLst>
          </p:cNvPr>
          <p:cNvSpPr>
            <a:spLocks noGrp="1"/>
          </p:cNvSpPr>
          <p:nvPr>
            <p:ph idx="1"/>
          </p:nvPr>
        </p:nvSpPr>
        <p:spPr/>
        <p:txBody>
          <a:bodyPr/>
          <a:lstStyle/>
          <a:p>
            <a:r>
              <a:rPr lang="tr-TR"/>
              <a:t>Oluşturduğunuz Python projesi spring boot’ta olduğu gibi AWS EC2’ye deploy edilecektir. </a:t>
            </a:r>
          </a:p>
          <a:p>
            <a:r>
              <a:rPr lang="tr-TR"/>
              <a:t>Not: Bu işlemi yaptıktan sonra mailGonder metodunun adresi EC2 sunucudaki adres ile değiştirilecektir.</a:t>
            </a:r>
          </a:p>
        </p:txBody>
      </p:sp>
      <p:pic>
        <p:nvPicPr>
          <p:cNvPr id="5" name="Resim 4">
            <a:extLst>
              <a:ext uri="{FF2B5EF4-FFF2-40B4-BE49-F238E27FC236}">
                <a16:creationId xmlns:a16="http://schemas.microsoft.com/office/drawing/2014/main" id="{E2DF2A2F-D8FC-03E1-4A09-85EAC5334AD9}"/>
              </a:ext>
            </a:extLst>
          </p:cNvPr>
          <p:cNvPicPr>
            <a:picLocks noChangeAspect="1"/>
          </p:cNvPicPr>
          <p:nvPr/>
        </p:nvPicPr>
        <p:blipFill>
          <a:blip r:embed="rId2"/>
          <a:srcRect t="6798" b="22557"/>
          <a:stretch>
            <a:fillRect/>
          </a:stretch>
        </p:blipFill>
        <p:spPr>
          <a:xfrm>
            <a:off x="137652" y="3537845"/>
            <a:ext cx="12192000" cy="3777622"/>
          </a:xfrm>
          <a:prstGeom prst="rect">
            <a:avLst/>
          </a:prstGeom>
        </p:spPr>
      </p:pic>
    </p:spTree>
    <p:extLst>
      <p:ext uri="{BB962C8B-B14F-4D97-AF65-F5344CB8AC3E}">
        <p14:creationId xmlns:p14="http://schemas.microsoft.com/office/powerpoint/2010/main" val="42840548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DDF5DA9-75CB-79DC-F5EF-8A5C99173326}"/>
              </a:ext>
            </a:extLst>
          </p:cNvPr>
          <p:cNvSpPr>
            <a:spLocks noGrp="1"/>
          </p:cNvSpPr>
          <p:nvPr>
            <p:ph type="title"/>
          </p:nvPr>
        </p:nvSpPr>
        <p:spPr/>
        <p:txBody>
          <a:bodyPr/>
          <a:lstStyle/>
          <a:p>
            <a:r>
              <a:rPr lang="tr-TR"/>
              <a:t>Python AWS EC2 deploy</a:t>
            </a:r>
          </a:p>
        </p:txBody>
      </p:sp>
      <p:sp>
        <p:nvSpPr>
          <p:cNvPr id="3" name="İçerik Yer Tutucusu 2">
            <a:extLst>
              <a:ext uri="{FF2B5EF4-FFF2-40B4-BE49-F238E27FC236}">
                <a16:creationId xmlns:a16="http://schemas.microsoft.com/office/drawing/2014/main" id="{A6B51357-D0A8-CAA1-813F-694B426AE45D}"/>
              </a:ext>
            </a:extLst>
          </p:cNvPr>
          <p:cNvSpPr>
            <a:spLocks noGrp="1"/>
          </p:cNvSpPr>
          <p:nvPr>
            <p:ph idx="1"/>
          </p:nvPr>
        </p:nvSpPr>
        <p:spPr>
          <a:xfrm>
            <a:off x="2500722" y="1740309"/>
            <a:ext cx="8915400" cy="3777622"/>
          </a:xfrm>
        </p:spPr>
        <p:txBody>
          <a:bodyPr/>
          <a:lstStyle/>
          <a:p>
            <a:r>
              <a:rPr lang="tr-TR"/>
              <a:t>pem dosyanızın bulunduğu klasöre gidip dosya yolunu kopyalıyoruz. </a:t>
            </a:r>
          </a:p>
        </p:txBody>
      </p:sp>
      <p:pic>
        <p:nvPicPr>
          <p:cNvPr id="7" name="Resim 6">
            <a:extLst>
              <a:ext uri="{FF2B5EF4-FFF2-40B4-BE49-F238E27FC236}">
                <a16:creationId xmlns:a16="http://schemas.microsoft.com/office/drawing/2014/main" id="{48DE49F0-67DE-7B28-3F9F-A0E133E5AF4E}"/>
              </a:ext>
            </a:extLst>
          </p:cNvPr>
          <p:cNvPicPr>
            <a:picLocks noChangeAspect="1"/>
          </p:cNvPicPr>
          <p:nvPr/>
        </p:nvPicPr>
        <p:blipFill>
          <a:blip r:embed="rId2"/>
          <a:stretch>
            <a:fillRect/>
          </a:stretch>
        </p:blipFill>
        <p:spPr>
          <a:xfrm>
            <a:off x="0" y="2371410"/>
            <a:ext cx="12192000" cy="4486590"/>
          </a:xfrm>
          <a:prstGeom prst="rect">
            <a:avLst/>
          </a:prstGeom>
        </p:spPr>
      </p:pic>
    </p:spTree>
    <p:extLst>
      <p:ext uri="{BB962C8B-B14F-4D97-AF65-F5344CB8AC3E}">
        <p14:creationId xmlns:p14="http://schemas.microsoft.com/office/powerpoint/2010/main" val="27270318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8AC0B-3249-E886-B16E-5184EEEE380C}"/>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1100F38-1815-A18A-80F7-1FF4EDF78AEC}"/>
              </a:ext>
            </a:extLst>
          </p:cNvPr>
          <p:cNvSpPr>
            <a:spLocks noGrp="1"/>
          </p:cNvSpPr>
          <p:nvPr>
            <p:ph idx="1"/>
          </p:nvPr>
        </p:nvSpPr>
        <p:spPr>
          <a:xfrm>
            <a:off x="2146760" y="108154"/>
            <a:ext cx="8915400" cy="3777622"/>
          </a:xfrm>
        </p:spPr>
        <p:txBody>
          <a:bodyPr/>
          <a:lstStyle/>
          <a:p>
            <a:r>
              <a:rPr lang="tr-TR"/>
              <a:t>Daha sonra powershell açıp önce cd sonra dosya yolunu yazıyoruz</a:t>
            </a:r>
          </a:p>
          <a:p>
            <a:pPr lvl="1"/>
            <a:r>
              <a:rPr lang="tr-TR"/>
              <a:t>cd </a:t>
            </a:r>
            <a:r>
              <a:rPr lang="en-US"/>
              <a:t>C:\Users\vural\Documents\workspace-spring-tools-for-eclipse-4.32.0.RELEASE\eKitapMobil3</a:t>
            </a:r>
            <a:endParaRPr lang="tr-TR"/>
          </a:p>
          <a:p>
            <a:r>
              <a:rPr lang="tr-TR"/>
              <a:t>Daha sonra sunucuya bağlanmak için aşağıdaki komutu yazıyoruz (Not: kendi ip adresiniz ve eğer sunucunuz ubuntu ise ec2-user yerine ubuntu yazacaksınız)</a:t>
            </a:r>
          </a:p>
          <a:p>
            <a:pPr lvl="1"/>
            <a:r>
              <a:rPr lang="tr-TR"/>
              <a:t>ssh -i ekitapAnahtarBilgisi.pem ec2-user@16.16.67.213</a:t>
            </a:r>
          </a:p>
          <a:p>
            <a:pPr lvl="1"/>
            <a:endParaRPr lang="tr-TR"/>
          </a:p>
        </p:txBody>
      </p:sp>
      <p:pic>
        <p:nvPicPr>
          <p:cNvPr id="10" name="Resim 9">
            <a:extLst>
              <a:ext uri="{FF2B5EF4-FFF2-40B4-BE49-F238E27FC236}">
                <a16:creationId xmlns:a16="http://schemas.microsoft.com/office/drawing/2014/main" id="{D8D4CAA2-DCE3-D3E8-6B10-953350580D29}"/>
              </a:ext>
            </a:extLst>
          </p:cNvPr>
          <p:cNvPicPr>
            <a:picLocks noChangeAspect="1"/>
          </p:cNvPicPr>
          <p:nvPr/>
        </p:nvPicPr>
        <p:blipFill>
          <a:blip r:embed="rId2"/>
          <a:stretch>
            <a:fillRect/>
          </a:stretch>
        </p:blipFill>
        <p:spPr>
          <a:xfrm>
            <a:off x="285136" y="2428568"/>
            <a:ext cx="12192000" cy="4429432"/>
          </a:xfrm>
          <a:prstGeom prst="rect">
            <a:avLst/>
          </a:prstGeom>
        </p:spPr>
      </p:pic>
    </p:spTree>
    <p:extLst>
      <p:ext uri="{BB962C8B-B14F-4D97-AF65-F5344CB8AC3E}">
        <p14:creationId xmlns:p14="http://schemas.microsoft.com/office/powerpoint/2010/main" val="32516128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7617B-4C0B-AEAA-4D99-BD37D58C175E}"/>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9DDA479-519A-D97D-2E61-B9662B37BCBD}"/>
              </a:ext>
            </a:extLst>
          </p:cNvPr>
          <p:cNvSpPr>
            <a:spLocks noGrp="1"/>
          </p:cNvSpPr>
          <p:nvPr>
            <p:ph idx="1"/>
          </p:nvPr>
        </p:nvSpPr>
        <p:spPr>
          <a:xfrm>
            <a:off x="2146760" y="108154"/>
            <a:ext cx="8915400" cy="3777622"/>
          </a:xfrm>
        </p:spPr>
        <p:txBody>
          <a:bodyPr/>
          <a:lstStyle/>
          <a:p>
            <a:r>
              <a:rPr lang="tr-TR"/>
              <a:t>Daha sonra sunucumuza python3 yüklü değilse aşağıdaki kod ile yüklüyoruz</a:t>
            </a:r>
          </a:p>
          <a:p>
            <a:pPr lvl="1"/>
            <a:r>
              <a:rPr lang="es-ES"/>
              <a:t>sudo dnf install python3 –y</a:t>
            </a:r>
            <a:endParaRPr lang="tr-TR"/>
          </a:p>
          <a:p>
            <a:r>
              <a:rPr lang="tr-TR"/>
              <a:t>Sonrasında deploy bağlantısı için aşağıdaki komutu yazıyoruz</a:t>
            </a:r>
          </a:p>
          <a:p>
            <a:pPr lvl="1"/>
            <a:r>
              <a:rPr lang="tr-TR"/>
              <a:t>sudo dnf install python3-pip -y</a:t>
            </a:r>
          </a:p>
          <a:p>
            <a:pPr lvl="1"/>
            <a:endParaRPr lang="tr-TR"/>
          </a:p>
          <a:p>
            <a:pPr lvl="1"/>
            <a:endParaRPr lang="es-ES"/>
          </a:p>
          <a:p>
            <a:pPr lvl="1"/>
            <a:endParaRPr lang="tr-TR"/>
          </a:p>
          <a:p>
            <a:pPr lvl="1"/>
            <a:endParaRPr lang="tr-TR"/>
          </a:p>
        </p:txBody>
      </p:sp>
      <p:pic>
        <p:nvPicPr>
          <p:cNvPr id="6" name="Resim 5">
            <a:extLst>
              <a:ext uri="{FF2B5EF4-FFF2-40B4-BE49-F238E27FC236}">
                <a16:creationId xmlns:a16="http://schemas.microsoft.com/office/drawing/2014/main" id="{E09247CA-141F-4584-3D80-3360B7FC0CD0}"/>
              </a:ext>
            </a:extLst>
          </p:cNvPr>
          <p:cNvPicPr>
            <a:picLocks noChangeAspect="1"/>
          </p:cNvPicPr>
          <p:nvPr/>
        </p:nvPicPr>
        <p:blipFill>
          <a:blip r:embed="rId2"/>
          <a:stretch>
            <a:fillRect/>
          </a:stretch>
        </p:blipFill>
        <p:spPr>
          <a:xfrm>
            <a:off x="0" y="1671484"/>
            <a:ext cx="12192000" cy="5186516"/>
          </a:xfrm>
          <a:prstGeom prst="rect">
            <a:avLst/>
          </a:prstGeom>
        </p:spPr>
      </p:pic>
    </p:spTree>
    <p:extLst>
      <p:ext uri="{BB962C8B-B14F-4D97-AF65-F5344CB8AC3E}">
        <p14:creationId xmlns:p14="http://schemas.microsoft.com/office/powerpoint/2010/main" val="11698343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CE50A-0203-8DBC-2010-1551C791BAA6}"/>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0CEE95E-DBC7-998A-CB93-E276860F4664}"/>
              </a:ext>
            </a:extLst>
          </p:cNvPr>
          <p:cNvSpPr>
            <a:spLocks noGrp="1"/>
          </p:cNvSpPr>
          <p:nvPr>
            <p:ph idx="1"/>
          </p:nvPr>
        </p:nvSpPr>
        <p:spPr>
          <a:xfrm>
            <a:off x="2146760" y="108154"/>
            <a:ext cx="8915400" cy="3777622"/>
          </a:xfrm>
        </p:spPr>
        <p:txBody>
          <a:bodyPr/>
          <a:lstStyle/>
          <a:p>
            <a:r>
              <a:rPr lang="tr-TR"/>
              <a:t>Sunucumuza git yüklemek için aşağıdaki komutu yazıp çalıştırıyoruz</a:t>
            </a:r>
          </a:p>
          <a:p>
            <a:pPr lvl="1"/>
            <a:r>
              <a:rPr lang="es-ES"/>
              <a:t>sudo dnf install git -y</a:t>
            </a:r>
          </a:p>
          <a:p>
            <a:pPr lvl="1"/>
            <a:endParaRPr lang="tr-TR"/>
          </a:p>
          <a:p>
            <a:pPr lvl="1"/>
            <a:endParaRPr lang="tr-TR"/>
          </a:p>
          <a:p>
            <a:pPr lvl="1"/>
            <a:endParaRPr lang="es-ES"/>
          </a:p>
          <a:p>
            <a:pPr lvl="1"/>
            <a:endParaRPr lang="tr-TR"/>
          </a:p>
          <a:p>
            <a:pPr lvl="1"/>
            <a:endParaRPr lang="tr-TR"/>
          </a:p>
        </p:txBody>
      </p:sp>
      <p:pic>
        <p:nvPicPr>
          <p:cNvPr id="4" name="Resim 3">
            <a:extLst>
              <a:ext uri="{FF2B5EF4-FFF2-40B4-BE49-F238E27FC236}">
                <a16:creationId xmlns:a16="http://schemas.microsoft.com/office/drawing/2014/main" id="{A37D4220-2891-2148-C44C-29B97146C5E9}"/>
              </a:ext>
            </a:extLst>
          </p:cNvPr>
          <p:cNvPicPr>
            <a:picLocks noChangeAspect="1"/>
          </p:cNvPicPr>
          <p:nvPr/>
        </p:nvPicPr>
        <p:blipFill>
          <a:blip r:embed="rId2"/>
          <a:stretch>
            <a:fillRect/>
          </a:stretch>
        </p:blipFill>
        <p:spPr>
          <a:xfrm>
            <a:off x="0" y="1125415"/>
            <a:ext cx="12192000" cy="5542504"/>
          </a:xfrm>
          <a:prstGeom prst="rect">
            <a:avLst/>
          </a:prstGeom>
        </p:spPr>
      </p:pic>
    </p:spTree>
    <p:extLst>
      <p:ext uri="{BB962C8B-B14F-4D97-AF65-F5344CB8AC3E}">
        <p14:creationId xmlns:p14="http://schemas.microsoft.com/office/powerpoint/2010/main" val="9460851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F31A515-33E2-A62F-8052-EE80D9FFF6B3}"/>
              </a:ext>
            </a:extLst>
          </p:cNvPr>
          <p:cNvSpPr>
            <a:spLocks noGrp="1"/>
          </p:cNvSpPr>
          <p:nvPr>
            <p:ph type="title"/>
          </p:nvPr>
        </p:nvSpPr>
        <p:spPr/>
        <p:txBody>
          <a:bodyPr/>
          <a:lstStyle/>
          <a:p>
            <a:r>
              <a:rPr lang="tr-TR"/>
              <a:t>Github</a:t>
            </a:r>
          </a:p>
        </p:txBody>
      </p:sp>
      <p:sp>
        <p:nvSpPr>
          <p:cNvPr id="3" name="İçerik Yer Tutucusu 2">
            <a:extLst>
              <a:ext uri="{FF2B5EF4-FFF2-40B4-BE49-F238E27FC236}">
                <a16:creationId xmlns:a16="http://schemas.microsoft.com/office/drawing/2014/main" id="{69A7AF9A-2E20-3EA3-57FA-72FC02E9C377}"/>
              </a:ext>
            </a:extLst>
          </p:cNvPr>
          <p:cNvSpPr>
            <a:spLocks noGrp="1"/>
          </p:cNvSpPr>
          <p:nvPr>
            <p:ph idx="1"/>
          </p:nvPr>
        </p:nvSpPr>
        <p:spPr>
          <a:xfrm>
            <a:off x="2500722" y="1746666"/>
            <a:ext cx="8915400" cy="3777622"/>
          </a:xfrm>
        </p:spPr>
        <p:txBody>
          <a:bodyPr/>
          <a:lstStyle/>
          <a:p>
            <a:r>
              <a:rPr lang="tr-TR"/>
              <a:t>Github’da repository’e gidip new ile yeni bir repository oluşturuyoruz</a:t>
            </a:r>
          </a:p>
        </p:txBody>
      </p:sp>
      <p:pic>
        <p:nvPicPr>
          <p:cNvPr id="5" name="Resim 4">
            <a:extLst>
              <a:ext uri="{FF2B5EF4-FFF2-40B4-BE49-F238E27FC236}">
                <a16:creationId xmlns:a16="http://schemas.microsoft.com/office/drawing/2014/main" id="{FB96B5B9-4911-1003-5572-BAE2A201ED77}"/>
              </a:ext>
            </a:extLst>
          </p:cNvPr>
          <p:cNvPicPr>
            <a:picLocks noChangeAspect="1"/>
          </p:cNvPicPr>
          <p:nvPr/>
        </p:nvPicPr>
        <p:blipFill>
          <a:blip r:embed="rId2"/>
          <a:stretch>
            <a:fillRect/>
          </a:stretch>
        </p:blipFill>
        <p:spPr>
          <a:xfrm>
            <a:off x="0" y="2163096"/>
            <a:ext cx="12192000" cy="4694903"/>
          </a:xfrm>
          <a:prstGeom prst="rect">
            <a:avLst/>
          </a:prstGeom>
        </p:spPr>
      </p:pic>
    </p:spTree>
    <p:extLst>
      <p:ext uri="{BB962C8B-B14F-4D97-AF65-F5344CB8AC3E}">
        <p14:creationId xmlns:p14="http://schemas.microsoft.com/office/powerpoint/2010/main" val="28441999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8C6A2BC-5CDB-32D2-8D24-E0ABCB597B66}"/>
              </a:ext>
            </a:extLst>
          </p:cNvPr>
          <p:cNvSpPr>
            <a:spLocks noGrp="1"/>
          </p:cNvSpPr>
          <p:nvPr>
            <p:ph type="title"/>
          </p:nvPr>
        </p:nvSpPr>
        <p:spPr/>
        <p:txBody>
          <a:bodyPr/>
          <a:lstStyle/>
          <a:p>
            <a:r>
              <a:rPr lang="tr-TR"/>
              <a:t>Python AWS EC2 deploy</a:t>
            </a:r>
          </a:p>
        </p:txBody>
      </p:sp>
      <p:sp>
        <p:nvSpPr>
          <p:cNvPr id="3" name="İçerik Yer Tutucusu 2">
            <a:extLst>
              <a:ext uri="{FF2B5EF4-FFF2-40B4-BE49-F238E27FC236}">
                <a16:creationId xmlns:a16="http://schemas.microsoft.com/office/drawing/2014/main" id="{3D0AFA1C-3CBC-A6CC-EA94-CCF3E695C381}"/>
              </a:ext>
            </a:extLst>
          </p:cNvPr>
          <p:cNvSpPr>
            <a:spLocks noGrp="1"/>
          </p:cNvSpPr>
          <p:nvPr>
            <p:ph idx="1"/>
          </p:nvPr>
        </p:nvSpPr>
        <p:spPr>
          <a:xfrm>
            <a:off x="2438486" y="1540189"/>
            <a:ext cx="8915400" cy="3777622"/>
          </a:xfrm>
        </p:spPr>
        <p:txBody>
          <a:bodyPr/>
          <a:lstStyle/>
          <a:p>
            <a:r>
              <a:rPr lang="tr-TR"/>
              <a:t>.gitignore dosyasını projemizin üzerine sürükleyip bırakıyoruz</a:t>
            </a:r>
          </a:p>
          <a:p>
            <a:pPr lvl="1"/>
            <a:r>
              <a:rPr lang="tr-TR"/>
              <a:t>Eski ve yeni bulunduğu yer</a:t>
            </a:r>
          </a:p>
        </p:txBody>
      </p:sp>
      <p:pic>
        <p:nvPicPr>
          <p:cNvPr id="5" name="Resim 4">
            <a:extLst>
              <a:ext uri="{FF2B5EF4-FFF2-40B4-BE49-F238E27FC236}">
                <a16:creationId xmlns:a16="http://schemas.microsoft.com/office/drawing/2014/main" id="{808D6EC9-0F7D-6014-43A0-A23E8351F4A5}"/>
              </a:ext>
            </a:extLst>
          </p:cNvPr>
          <p:cNvPicPr>
            <a:picLocks noChangeAspect="1"/>
          </p:cNvPicPr>
          <p:nvPr/>
        </p:nvPicPr>
        <p:blipFill>
          <a:blip r:embed="rId2"/>
          <a:srcRect r="35958"/>
          <a:stretch>
            <a:fillRect/>
          </a:stretch>
        </p:blipFill>
        <p:spPr>
          <a:xfrm>
            <a:off x="-1" y="2272078"/>
            <a:ext cx="6240243" cy="5076717"/>
          </a:xfrm>
          <a:prstGeom prst="rect">
            <a:avLst/>
          </a:prstGeom>
        </p:spPr>
      </p:pic>
      <p:pic>
        <p:nvPicPr>
          <p:cNvPr id="7" name="Resim 6">
            <a:extLst>
              <a:ext uri="{FF2B5EF4-FFF2-40B4-BE49-F238E27FC236}">
                <a16:creationId xmlns:a16="http://schemas.microsoft.com/office/drawing/2014/main" id="{5D129D44-9553-0962-924D-95945C753769}"/>
              </a:ext>
            </a:extLst>
          </p:cNvPr>
          <p:cNvPicPr>
            <a:picLocks noChangeAspect="1"/>
          </p:cNvPicPr>
          <p:nvPr/>
        </p:nvPicPr>
        <p:blipFill>
          <a:blip r:embed="rId3"/>
          <a:srcRect r="35177"/>
          <a:stretch>
            <a:fillRect/>
          </a:stretch>
        </p:blipFill>
        <p:spPr>
          <a:xfrm>
            <a:off x="6368061" y="2272078"/>
            <a:ext cx="5951759" cy="4964464"/>
          </a:xfrm>
          <a:prstGeom prst="rect">
            <a:avLst/>
          </a:prstGeom>
        </p:spPr>
      </p:pic>
      <p:cxnSp>
        <p:nvCxnSpPr>
          <p:cNvPr id="9" name="Düz Ok Bağlayıcısı 8">
            <a:extLst>
              <a:ext uri="{FF2B5EF4-FFF2-40B4-BE49-F238E27FC236}">
                <a16:creationId xmlns:a16="http://schemas.microsoft.com/office/drawing/2014/main" id="{3D0E6174-BF30-433B-2BBC-05A8BE1F41D5}"/>
              </a:ext>
            </a:extLst>
          </p:cNvPr>
          <p:cNvCxnSpPr>
            <a:cxnSpLocks/>
          </p:cNvCxnSpPr>
          <p:nvPr/>
        </p:nvCxnSpPr>
        <p:spPr>
          <a:xfrm>
            <a:off x="973394" y="3529781"/>
            <a:ext cx="5574890" cy="698090"/>
          </a:xfrm>
          <a:prstGeom prst="straightConnector1">
            <a:avLst/>
          </a:prstGeom>
          <a:ln w="57150">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5288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61144-07B3-8299-3759-6D2E5B36670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8A9C088A-BC37-12CF-BB9F-84AA308B8A24}"/>
              </a:ext>
            </a:extLst>
          </p:cNvPr>
          <p:cNvSpPr>
            <a:spLocks noGrp="1"/>
          </p:cNvSpPr>
          <p:nvPr>
            <p:ph type="title"/>
          </p:nvPr>
        </p:nvSpPr>
        <p:spPr/>
        <p:txBody>
          <a:bodyPr/>
          <a:lstStyle/>
          <a:p>
            <a:r>
              <a:rPr lang="tr-TR"/>
              <a:t>Python AWS EC2 deploy</a:t>
            </a:r>
          </a:p>
        </p:txBody>
      </p:sp>
      <p:sp>
        <p:nvSpPr>
          <p:cNvPr id="3" name="İçerik Yer Tutucusu 2">
            <a:extLst>
              <a:ext uri="{FF2B5EF4-FFF2-40B4-BE49-F238E27FC236}">
                <a16:creationId xmlns:a16="http://schemas.microsoft.com/office/drawing/2014/main" id="{2B5C7AB2-5100-6DBC-FB54-6F893C95E77B}"/>
              </a:ext>
            </a:extLst>
          </p:cNvPr>
          <p:cNvSpPr>
            <a:spLocks noGrp="1"/>
          </p:cNvSpPr>
          <p:nvPr>
            <p:ph idx="1"/>
          </p:nvPr>
        </p:nvSpPr>
        <p:spPr>
          <a:xfrm>
            <a:off x="2438486" y="1540189"/>
            <a:ext cx="8915400" cy="5421050"/>
          </a:xfrm>
        </p:spPr>
        <p:txBody>
          <a:bodyPr>
            <a:normAutofit/>
          </a:bodyPr>
          <a:lstStyle/>
          <a:p>
            <a:r>
              <a:rPr lang="tr-TR"/>
              <a:t>.gitignore dosyasında önceden bulunan kod satırları siliyoruz ve şunları yazıyoruz</a:t>
            </a:r>
          </a:p>
          <a:p>
            <a:pPr lvl="2"/>
            <a:r>
              <a:rPr lang="tr-TR"/>
              <a:t>.venv/</a:t>
            </a:r>
          </a:p>
          <a:p>
            <a:pPr lvl="2"/>
            <a:r>
              <a:rPr lang="tr-TR"/>
              <a:t>.env</a:t>
            </a:r>
          </a:p>
          <a:p>
            <a:pPr lvl="2"/>
            <a:r>
              <a:rPr lang="tr-TR"/>
              <a:t>__pycache__/</a:t>
            </a:r>
          </a:p>
          <a:p>
            <a:pPr lvl="2"/>
            <a:r>
              <a:rPr lang="tr-TR"/>
              <a:t>*.pyc</a:t>
            </a:r>
          </a:p>
          <a:p>
            <a:pPr lvl="1"/>
            <a:endParaRPr lang="tr-TR"/>
          </a:p>
          <a:p>
            <a:r>
              <a:rPr lang="tr-TR"/>
              <a:t>Daha sonra projemizin sağ click yapıp new file diyoruz ve açılan pencerede requirements.txt yazıp ekliyoruz ve dosyanın içerisine aşağıdaki satırları ekliyoruz. Bunu yapmamızın nedeni EC2’nin projemiz için hangi kütüphaneleri yükleyeceğinin bilgisini vermektir</a:t>
            </a:r>
          </a:p>
          <a:p>
            <a:pPr lvl="2"/>
            <a:r>
              <a:rPr lang="tr-TR"/>
              <a:t>fastapi</a:t>
            </a:r>
          </a:p>
          <a:p>
            <a:pPr lvl="2"/>
            <a:r>
              <a:rPr lang="tr-TR"/>
              <a:t>uvicorn</a:t>
            </a:r>
          </a:p>
          <a:p>
            <a:pPr lvl="2"/>
            <a:r>
              <a:rPr lang="tr-TR"/>
              <a:t>aiosmtplib</a:t>
            </a:r>
          </a:p>
          <a:p>
            <a:pPr lvl="2"/>
            <a:r>
              <a:rPr lang="tr-TR"/>
              <a:t>python-dotenv</a:t>
            </a:r>
          </a:p>
          <a:p>
            <a:pPr lvl="2"/>
            <a:r>
              <a:rPr lang="tr-TR"/>
              <a:t>email-validator</a:t>
            </a:r>
          </a:p>
          <a:p>
            <a:pPr marL="914400" lvl="2" indent="0">
              <a:buNone/>
            </a:pPr>
            <a:endParaRPr lang="tr-TR"/>
          </a:p>
        </p:txBody>
      </p:sp>
    </p:spTree>
    <p:extLst>
      <p:ext uri="{BB962C8B-B14F-4D97-AF65-F5344CB8AC3E}">
        <p14:creationId xmlns:p14="http://schemas.microsoft.com/office/powerpoint/2010/main" val="3522395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0C0EA-5A87-CE40-F3C7-62371AE400C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1C6653D3-9FE7-1E4A-38B1-3D6BF2787708}"/>
              </a:ext>
            </a:extLst>
          </p:cNvPr>
          <p:cNvSpPr>
            <a:spLocks noGrp="1"/>
          </p:cNvSpPr>
          <p:nvPr>
            <p:ph type="title"/>
          </p:nvPr>
        </p:nvSpPr>
        <p:spPr/>
        <p:txBody>
          <a:bodyPr/>
          <a:lstStyle/>
          <a:p>
            <a:r>
              <a:rPr lang="tr-TR"/>
              <a:t>Python AWS EC2 deploy</a:t>
            </a:r>
          </a:p>
        </p:txBody>
      </p:sp>
      <p:sp>
        <p:nvSpPr>
          <p:cNvPr id="3" name="İçerik Yer Tutucusu 2">
            <a:extLst>
              <a:ext uri="{FF2B5EF4-FFF2-40B4-BE49-F238E27FC236}">
                <a16:creationId xmlns:a16="http://schemas.microsoft.com/office/drawing/2014/main" id="{BBCCD0E2-AF29-7BD5-F03F-7D83E24124F0}"/>
              </a:ext>
            </a:extLst>
          </p:cNvPr>
          <p:cNvSpPr>
            <a:spLocks noGrp="1"/>
          </p:cNvSpPr>
          <p:nvPr>
            <p:ph idx="1"/>
          </p:nvPr>
        </p:nvSpPr>
        <p:spPr>
          <a:xfrm>
            <a:off x="2438486" y="1540189"/>
            <a:ext cx="8915400" cy="5421050"/>
          </a:xfrm>
        </p:spPr>
        <p:txBody>
          <a:bodyPr>
            <a:normAutofit/>
          </a:bodyPr>
          <a:lstStyle/>
          <a:p>
            <a:r>
              <a:rPr lang="tr-TR"/>
              <a:t>Proje yapısı bu şekilde olmalı</a:t>
            </a:r>
          </a:p>
        </p:txBody>
      </p:sp>
      <p:pic>
        <p:nvPicPr>
          <p:cNvPr id="5" name="Resim 4">
            <a:extLst>
              <a:ext uri="{FF2B5EF4-FFF2-40B4-BE49-F238E27FC236}">
                <a16:creationId xmlns:a16="http://schemas.microsoft.com/office/drawing/2014/main" id="{A4B8EFEF-C36C-1AC2-4836-125E0A71C722}"/>
              </a:ext>
            </a:extLst>
          </p:cNvPr>
          <p:cNvPicPr>
            <a:picLocks noChangeAspect="1"/>
          </p:cNvPicPr>
          <p:nvPr/>
        </p:nvPicPr>
        <p:blipFill>
          <a:blip r:embed="rId2"/>
          <a:stretch>
            <a:fillRect/>
          </a:stretch>
        </p:blipFill>
        <p:spPr>
          <a:xfrm>
            <a:off x="0" y="1905000"/>
            <a:ext cx="12192000" cy="4837444"/>
          </a:xfrm>
          <a:prstGeom prst="rect">
            <a:avLst/>
          </a:prstGeom>
        </p:spPr>
      </p:pic>
    </p:spTree>
    <p:extLst>
      <p:ext uri="{BB962C8B-B14F-4D97-AF65-F5344CB8AC3E}">
        <p14:creationId xmlns:p14="http://schemas.microsoft.com/office/powerpoint/2010/main" val="21781086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DF1FD-1112-EBC6-9D06-84DE1566D1CF}"/>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24318D0-CA24-27E6-B901-3B2F10EF36EA}"/>
              </a:ext>
            </a:extLst>
          </p:cNvPr>
          <p:cNvSpPr>
            <a:spLocks noGrp="1"/>
          </p:cNvSpPr>
          <p:nvPr>
            <p:ph type="title"/>
          </p:nvPr>
        </p:nvSpPr>
        <p:spPr/>
        <p:txBody>
          <a:bodyPr/>
          <a:lstStyle/>
          <a:p>
            <a:r>
              <a:rPr lang="tr-TR"/>
              <a:t>Python AWS EC2 deploy</a:t>
            </a:r>
          </a:p>
        </p:txBody>
      </p:sp>
      <p:sp>
        <p:nvSpPr>
          <p:cNvPr id="3" name="İçerik Yer Tutucusu 2">
            <a:extLst>
              <a:ext uri="{FF2B5EF4-FFF2-40B4-BE49-F238E27FC236}">
                <a16:creationId xmlns:a16="http://schemas.microsoft.com/office/drawing/2014/main" id="{F863C281-048B-2249-5AB0-6F23633919A6}"/>
              </a:ext>
            </a:extLst>
          </p:cNvPr>
          <p:cNvSpPr>
            <a:spLocks noGrp="1"/>
          </p:cNvSpPr>
          <p:nvPr>
            <p:ph idx="1"/>
          </p:nvPr>
        </p:nvSpPr>
        <p:spPr>
          <a:xfrm>
            <a:off x="2438486" y="1540189"/>
            <a:ext cx="8915400" cy="5421050"/>
          </a:xfrm>
        </p:spPr>
        <p:txBody>
          <a:bodyPr>
            <a:normAutofit/>
          </a:bodyPr>
          <a:lstStyle/>
          <a:p>
            <a:r>
              <a:rPr lang="tr-TR"/>
              <a:t>Sonrasında projemizin bulunduğu dosyanın yolunu kopyalıyoruz</a:t>
            </a:r>
          </a:p>
          <a:p>
            <a:pPr lvl="1"/>
            <a:endParaRPr lang="tr-TR"/>
          </a:p>
        </p:txBody>
      </p:sp>
      <p:pic>
        <p:nvPicPr>
          <p:cNvPr id="5" name="Resim 4">
            <a:extLst>
              <a:ext uri="{FF2B5EF4-FFF2-40B4-BE49-F238E27FC236}">
                <a16:creationId xmlns:a16="http://schemas.microsoft.com/office/drawing/2014/main" id="{7C223119-0550-A5BC-C78C-0EEA10E7975D}"/>
              </a:ext>
            </a:extLst>
          </p:cNvPr>
          <p:cNvPicPr>
            <a:picLocks noChangeAspect="1"/>
          </p:cNvPicPr>
          <p:nvPr/>
        </p:nvPicPr>
        <p:blipFill>
          <a:blip r:embed="rId2"/>
          <a:stretch>
            <a:fillRect/>
          </a:stretch>
        </p:blipFill>
        <p:spPr>
          <a:xfrm>
            <a:off x="0" y="2035277"/>
            <a:ext cx="12192000" cy="5103246"/>
          </a:xfrm>
          <a:prstGeom prst="rect">
            <a:avLst/>
          </a:prstGeom>
        </p:spPr>
      </p:pic>
    </p:spTree>
    <p:extLst>
      <p:ext uri="{BB962C8B-B14F-4D97-AF65-F5344CB8AC3E}">
        <p14:creationId xmlns:p14="http://schemas.microsoft.com/office/powerpoint/2010/main" val="27546110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771A2-F5F8-106A-B00E-2C9062A62D1E}"/>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E31FC5D-69CC-22BB-2893-4DC7DD58A0FB}"/>
              </a:ext>
            </a:extLst>
          </p:cNvPr>
          <p:cNvSpPr>
            <a:spLocks noGrp="1"/>
          </p:cNvSpPr>
          <p:nvPr>
            <p:ph type="title"/>
          </p:nvPr>
        </p:nvSpPr>
        <p:spPr>
          <a:xfrm>
            <a:off x="2438486" y="259299"/>
            <a:ext cx="8911687" cy="1280890"/>
          </a:xfrm>
        </p:spPr>
        <p:txBody>
          <a:bodyPr/>
          <a:lstStyle/>
          <a:p>
            <a:r>
              <a:rPr lang="tr-TR"/>
              <a:t>Python AWS EC2 deploy</a:t>
            </a:r>
          </a:p>
        </p:txBody>
      </p:sp>
      <p:sp>
        <p:nvSpPr>
          <p:cNvPr id="3" name="İçerik Yer Tutucusu 2">
            <a:extLst>
              <a:ext uri="{FF2B5EF4-FFF2-40B4-BE49-F238E27FC236}">
                <a16:creationId xmlns:a16="http://schemas.microsoft.com/office/drawing/2014/main" id="{EE00E30C-1CA0-DE98-2505-FF35F0C99FA7}"/>
              </a:ext>
            </a:extLst>
          </p:cNvPr>
          <p:cNvSpPr>
            <a:spLocks noGrp="1"/>
          </p:cNvSpPr>
          <p:nvPr>
            <p:ph idx="1"/>
          </p:nvPr>
        </p:nvSpPr>
        <p:spPr>
          <a:xfrm>
            <a:off x="2300834" y="1193840"/>
            <a:ext cx="8915400" cy="5421050"/>
          </a:xfrm>
        </p:spPr>
        <p:txBody>
          <a:bodyPr>
            <a:normAutofit/>
          </a:bodyPr>
          <a:lstStyle/>
          <a:p>
            <a:r>
              <a:rPr lang="tr-TR"/>
              <a:t>Power shellde aşağıdaki şekilde yazıyoruz</a:t>
            </a:r>
          </a:p>
          <a:p>
            <a:pPr lvl="1"/>
            <a:r>
              <a:rPr lang="tr-TR"/>
              <a:t>cd C:\Users\vural\PycharmProjects\eKitapMailGonderim</a:t>
            </a:r>
          </a:p>
          <a:p>
            <a:pPr lvl="1"/>
            <a:endParaRPr lang="tr-TR"/>
          </a:p>
          <a:p>
            <a:endParaRPr lang="tr-TR"/>
          </a:p>
          <a:p>
            <a:endParaRPr lang="tr-TR"/>
          </a:p>
          <a:p>
            <a:pPr lvl="1"/>
            <a:endParaRPr lang="tr-TR"/>
          </a:p>
        </p:txBody>
      </p:sp>
      <p:pic>
        <p:nvPicPr>
          <p:cNvPr id="5" name="Resim 4">
            <a:extLst>
              <a:ext uri="{FF2B5EF4-FFF2-40B4-BE49-F238E27FC236}">
                <a16:creationId xmlns:a16="http://schemas.microsoft.com/office/drawing/2014/main" id="{8237E456-ACA9-DDF0-6042-675D0754F013}"/>
              </a:ext>
            </a:extLst>
          </p:cNvPr>
          <p:cNvPicPr>
            <a:picLocks noChangeAspect="1"/>
          </p:cNvPicPr>
          <p:nvPr/>
        </p:nvPicPr>
        <p:blipFill>
          <a:blip r:embed="rId2"/>
          <a:stretch>
            <a:fillRect/>
          </a:stretch>
        </p:blipFill>
        <p:spPr>
          <a:xfrm>
            <a:off x="0" y="1986116"/>
            <a:ext cx="12192000" cy="4803058"/>
          </a:xfrm>
          <a:prstGeom prst="rect">
            <a:avLst/>
          </a:prstGeom>
        </p:spPr>
      </p:pic>
    </p:spTree>
    <p:extLst>
      <p:ext uri="{BB962C8B-B14F-4D97-AF65-F5344CB8AC3E}">
        <p14:creationId xmlns:p14="http://schemas.microsoft.com/office/powerpoint/2010/main" val="17379677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2E0B56B-BB27-5FEE-E256-3CEDABB7076F}"/>
              </a:ext>
            </a:extLst>
          </p:cNvPr>
          <p:cNvSpPr>
            <a:spLocks noGrp="1"/>
          </p:cNvSpPr>
          <p:nvPr>
            <p:ph type="title"/>
          </p:nvPr>
        </p:nvSpPr>
        <p:spPr/>
        <p:txBody>
          <a:bodyPr/>
          <a:lstStyle/>
          <a:p>
            <a:r>
              <a:rPr lang="tr-TR"/>
              <a:t>Python AWS EC2 deploy</a:t>
            </a:r>
          </a:p>
        </p:txBody>
      </p:sp>
      <p:sp>
        <p:nvSpPr>
          <p:cNvPr id="3" name="İçerik Yer Tutucusu 2">
            <a:extLst>
              <a:ext uri="{FF2B5EF4-FFF2-40B4-BE49-F238E27FC236}">
                <a16:creationId xmlns:a16="http://schemas.microsoft.com/office/drawing/2014/main" id="{1D93DE91-7372-5E80-DAAB-A26556F7509A}"/>
              </a:ext>
            </a:extLst>
          </p:cNvPr>
          <p:cNvSpPr>
            <a:spLocks noGrp="1"/>
          </p:cNvSpPr>
          <p:nvPr>
            <p:ph idx="1"/>
          </p:nvPr>
        </p:nvSpPr>
        <p:spPr/>
        <p:txBody>
          <a:bodyPr/>
          <a:lstStyle/>
          <a:p>
            <a:r>
              <a:rPr lang="tr-TR" dirty="0"/>
              <a:t>Daha sonra aşağıdaki komutları sırasıyla yazıyoruz</a:t>
            </a:r>
          </a:p>
          <a:p>
            <a:pPr lvl="1"/>
            <a:r>
              <a:rPr lang="tr-TR" dirty="0"/>
              <a:t>git </a:t>
            </a:r>
            <a:r>
              <a:rPr lang="tr-TR" dirty="0" err="1"/>
              <a:t>init</a:t>
            </a:r>
            <a:endParaRPr lang="tr-TR" dirty="0"/>
          </a:p>
          <a:p>
            <a:pPr lvl="1"/>
            <a:r>
              <a:rPr lang="tr-TR" dirty="0"/>
              <a:t>git </a:t>
            </a:r>
            <a:r>
              <a:rPr lang="tr-TR" dirty="0" err="1"/>
              <a:t>add</a:t>
            </a:r>
            <a:r>
              <a:rPr lang="tr-TR" dirty="0"/>
              <a:t> . </a:t>
            </a:r>
          </a:p>
          <a:p>
            <a:pPr lvl="1"/>
            <a:r>
              <a:rPr lang="tr-TR" dirty="0"/>
              <a:t>git </a:t>
            </a:r>
            <a:r>
              <a:rPr lang="tr-TR" dirty="0" err="1"/>
              <a:t>commit</a:t>
            </a:r>
            <a:r>
              <a:rPr lang="tr-TR" dirty="0"/>
              <a:t> -m "</a:t>
            </a:r>
            <a:r>
              <a:rPr lang="tr-TR" dirty="0" err="1"/>
              <a:t>ekitapMailProjesi</a:t>
            </a:r>
            <a:r>
              <a:rPr lang="tr-TR" dirty="0"/>
              <a:t>«</a:t>
            </a:r>
          </a:p>
          <a:p>
            <a:pPr lvl="1"/>
            <a:r>
              <a:rPr lang="tr-TR" dirty="0"/>
              <a:t>git </a:t>
            </a:r>
            <a:r>
              <a:rPr lang="tr-TR" dirty="0" err="1"/>
              <a:t>branch</a:t>
            </a:r>
            <a:r>
              <a:rPr lang="tr-TR" dirty="0"/>
              <a:t> -M main</a:t>
            </a:r>
          </a:p>
          <a:p>
            <a:pPr lvl="1"/>
            <a:r>
              <a:rPr lang="en-US" dirty="0"/>
              <a:t>git remote add origin </a:t>
            </a:r>
            <a:r>
              <a:rPr lang="en-US" dirty="0">
                <a:hlinkClick r:id="rId2"/>
              </a:rPr>
              <a:t>https://github.com/hvural02/mailPythonProjesiAdy-.git</a:t>
            </a:r>
            <a:endParaRPr lang="tr-TR" dirty="0"/>
          </a:p>
          <a:p>
            <a:pPr lvl="1"/>
            <a:r>
              <a:rPr lang="en-US" dirty="0"/>
              <a:t>git push -u origin main</a:t>
            </a:r>
          </a:p>
          <a:p>
            <a:pPr lvl="1"/>
            <a:endParaRPr lang="tr-TR" dirty="0"/>
          </a:p>
          <a:p>
            <a:pPr lvl="1"/>
            <a:endParaRPr lang="tr-TR" dirty="0"/>
          </a:p>
          <a:p>
            <a:pPr lvl="1"/>
            <a:endParaRPr lang="tr-TR" dirty="0"/>
          </a:p>
        </p:txBody>
      </p:sp>
    </p:spTree>
    <p:extLst>
      <p:ext uri="{BB962C8B-B14F-4D97-AF65-F5344CB8AC3E}">
        <p14:creationId xmlns:p14="http://schemas.microsoft.com/office/powerpoint/2010/main" val="23772014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A92F3-1B01-0A84-0999-40C900D30ECD}"/>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EEDBAEA-207C-8293-34BF-7D077A48FA05}"/>
              </a:ext>
            </a:extLst>
          </p:cNvPr>
          <p:cNvSpPr>
            <a:spLocks noGrp="1"/>
          </p:cNvSpPr>
          <p:nvPr>
            <p:ph type="title"/>
          </p:nvPr>
        </p:nvSpPr>
        <p:spPr/>
        <p:txBody>
          <a:bodyPr/>
          <a:lstStyle/>
          <a:p>
            <a:r>
              <a:rPr lang="tr-TR"/>
              <a:t>Python AWS EC2 deploy</a:t>
            </a:r>
          </a:p>
        </p:txBody>
      </p:sp>
      <p:sp>
        <p:nvSpPr>
          <p:cNvPr id="3" name="İçerik Yer Tutucusu 2">
            <a:extLst>
              <a:ext uri="{FF2B5EF4-FFF2-40B4-BE49-F238E27FC236}">
                <a16:creationId xmlns:a16="http://schemas.microsoft.com/office/drawing/2014/main" id="{031A76CF-4C00-ADE1-AF2E-A24E4E600AC7}"/>
              </a:ext>
            </a:extLst>
          </p:cNvPr>
          <p:cNvSpPr>
            <a:spLocks noGrp="1"/>
          </p:cNvSpPr>
          <p:nvPr>
            <p:ph idx="1"/>
          </p:nvPr>
        </p:nvSpPr>
        <p:spPr>
          <a:xfrm>
            <a:off x="2431895" y="1681316"/>
            <a:ext cx="8915400" cy="3777622"/>
          </a:xfrm>
        </p:spPr>
        <p:txBody>
          <a:bodyPr/>
          <a:lstStyle/>
          <a:p>
            <a:r>
              <a:rPr lang="tr-TR"/>
              <a:t>Power shellde bunları görmeniz gerekmekte</a:t>
            </a:r>
          </a:p>
          <a:p>
            <a:pPr lvl="1"/>
            <a:endParaRPr lang="tr-TR"/>
          </a:p>
          <a:p>
            <a:pPr lvl="1"/>
            <a:endParaRPr lang="tr-TR"/>
          </a:p>
        </p:txBody>
      </p:sp>
      <p:pic>
        <p:nvPicPr>
          <p:cNvPr id="4" name="Resim 3">
            <a:extLst>
              <a:ext uri="{FF2B5EF4-FFF2-40B4-BE49-F238E27FC236}">
                <a16:creationId xmlns:a16="http://schemas.microsoft.com/office/drawing/2014/main" id="{0470F773-1EB5-2BDF-F253-F8A92AC9CA64}"/>
              </a:ext>
            </a:extLst>
          </p:cNvPr>
          <p:cNvPicPr>
            <a:picLocks noChangeAspect="1"/>
          </p:cNvPicPr>
          <p:nvPr/>
        </p:nvPicPr>
        <p:blipFill>
          <a:blip r:embed="rId2"/>
          <a:stretch>
            <a:fillRect/>
          </a:stretch>
        </p:blipFill>
        <p:spPr>
          <a:xfrm>
            <a:off x="196645" y="2005781"/>
            <a:ext cx="12192000" cy="4852219"/>
          </a:xfrm>
          <a:prstGeom prst="rect">
            <a:avLst/>
          </a:prstGeom>
        </p:spPr>
      </p:pic>
    </p:spTree>
    <p:extLst>
      <p:ext uri="{BB962C8B-B14F-4D97-AF65-F5344CB8AC3E}">
        <p14:creationId xmlns:p14="http://schemas.microsoft.com/office/powerpoint/2010/main" val="3113813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İçerik Yer Tutucusu 4">
            <a:extLst>
              <a:ext uri="{FF2B5EF4-FFF2-40B4-BE49-F238E27FC236}">
                <a16:creationId xmlns:a16="http://schemas.microsoft.com/office/drawing/2014/main" id="{73E448E2-80AF-8EE3-B584-F70F20FFD31C}"/>
              </a:ext>
            </a:extLst>
          </p:cNvPr>
          <p:cNvSpPr>
            <a:spLocks noGrp="1"/>
          </p:cNvSpPr>
          <p:nvPr>
            <p:ph idx="1"/>
          </p:nvPr>
        </p:nvSpPr>
        <p:spPr>
          <a:xfrm>
            <a:off x="2372902" y="468472"/>
            <a:ext cx="8915400" cy="3777622"/>
          </a:xfrm>
        </p:spPr>
        <p:txBody>
          <a:bodyPr/>
          <a:lstStyle/>
          <a:p>
            <a:r>
              <a:rPr lang="tr-TR"/>
              <a:t>Python projemiz 8000 portunda çalıştığı için sunucumuzda bu portu şu şekilde açıyoruz</a:t>
            </a:r>
          </a:p>
          <a:p>
            <a:r>
              <a:rPr lang="tr-TR"/>
              <a:t>Sunucumuzun çalıştığı launch-wizard çeşidini bulup sonra sol sekmedeki security groups’a gidiyoruz ve ordan sunucumuza bağlı olan launch-wizard’ı seçiyoruz </a:t>
            </a:r>
          </a:p>
        </p:txBody>
      </p:sp>
      <p:pic>
        <p:nvPicPr>
          <p:cNvPr id="7" name="Resim 6">
            <a:extLst>
              <a:ext uri="{FF2B5EF4-FFF2-40B4-BE49-F238E27FC236}">
                <a16:creationId xmlns:a16="http://schemas.microsoft.com/office/drawing/2014/main" id="{1793C989-A6A5-B038-E567-7E5E646447ED}"/>
              </a:ext>
            </a:extLst>
          </p:cNvPr>
          <p:cNvPicPr>
            <a:picLocks noChangeAspect="1"/>
          </p:cNvPicPr>
          <p:nvPr/>
        </p:nvPicPr>
        <p:blipFill>
          <a:blip r:embed="rId2"/>
          <a:stretch>
            <a:fillRect/>
          </a:stretch>
        </p:blipFill>
        <p:spPr>
          <a:xfrm>
            <a:off x="6415548" y="2357283"/>
            <a:ext cx="5869857" cy="5044268"/>
          </a:xfrm>
          <a:prstGeom prst="rect">
            <a:avLst/>
          </a:prstGeom>
        </p:spPr>
      </p:pic>
      <p:pic>
        <p:nvPicPr>
          <p:cNvPr id="9" name="Resim 8">
            <a:extLst>
              <a:ext uri="{FF2B5EF4-FFF2-40B4-BE49-F238E27FC236}">
                <a16:creationId xmlns:a16="http://schemas.microsoft.com/office/drawing/2014/main" id="{F6ACB8EB-0E00-A170-D829-00A3F1FE8528}"/>
              </a:ext>
            </a:extLst>
          </p:cNvPr>
          <p:cNvPicPr>
            <a:picLocks noChangeAspect="1"/>
          </p:cNvPicPr>
          <p:nvPr/>
        </p:nvPicPr>
        <p:blipFill>
          <a:blip r:embed="rId3"/>
          <a:stretch>
            <a:fillRect/>
          </a:stretch>
        </p:blipFill>
        <p:spPr>
          <a:xfrm>
            <a:off x="-76200" y="2366808"/>
            <a:ext cx="6096000" cy="5190446"/>
          </a:xfrm>
          <a:prstGeom prst="rect">
            <a:avLst/>
          </a:prstGeom>
        </p:spPr>
      </p:pic>
      <p:cxnSp>
        <p:nvCxnSpPr>
          <p:cNvPr id="13" name="Düz Ok Bağlayıcısı 12">
            <a:extLst>
              <a:ext uri="{FF2B5EF4-FFF2-40B4-BE49-F238E27FC236}">
                <a16:creationId xmlns:a16="http://schemas.microsoft.com/office/drawing/2014/main" id="{E4B56F90-5E88-8006-6D2E-F0FC7ABA4D46}"/>
              </a:ext>
            </a:extLst>
          </p:cNvPr>
          <p:cNvCxnSpPr/>
          <p:nvPr/>
        </p:nvCxnSpPr>
        <p:spPr>
          <a:xfrm flipV="1">
            <a:off x="4257368" y="3864077"/>
            <a:ext cx="5093109" cy="186813"/>
          </a:xfrm>
          <a:prstGeom prst="straightConnector1">
            <a:avLst/>
          </a:prstGeom>
          <a:ln w="38100">
            <a:solidFill>
              <a:srgbClr val="92D05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22489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89ED03-ACA6-AAB9-E67A-6A26084B1E98}"/>
              </a:ext>
            </a:extLst>
          </p:cNvPr>
          <p:cNvSpPr>
            <a:spLocks noGrp="1"/>
          </p:cNvSpPr>
          <p:nvPr>
            <p:ph type="title"/>
          </p:nvPr>
        </p:nvSpPr>
        <p:spPr/>
        <p:txBody>
          <a:bodyPr/>
          <a:lstStyle/>
          <a:p>
            <a:r>
              <a:rPr lang="tr-TR"/>
              <a:t>Python AWS EC2 deploy</a:t>
            </a:r>
          </a:p>
        </p:txBody>
      </p:sp>
      <p:sp>
        <p:nvSpPr>
          <p:cNvPr id="3" name="İçerik Yer Tutucusu 2">
            <a:extLst>
              <a:ext uri="{FF2B5EF4-FFF2-40B4-BE49-F238E27FC236}">
                <a16:creationId xmlns:a16="http://schemas.microsoft.com/office/drawing/2014/main" id="{EE3682BC-9326-8BAE-210A-6CB42A6FDAF1}"/>
              </a:ext>
            </a:extLst>
          </p:cNvPr>
          <p:cNvSpPr>
            <a:spLocks noGrp="1"/>
          </p:cNvSpPr>
          <p:nvPr>
            <p:ph idx="1"/>
          </p:nvPr>
        </p:nvSpPr>
        <p:spPr>
          <a:xfrm>
            <a:off x="2431897" y="1540189"/>
            <a:ext cx="8915400" cy="3777622"/>
          </a:xfrm>
        </p:spPr>
        <p:txBody>
          <a:bodyPr/>
          <a:lstStyle/>
          <a:p>
            <a:r>
              <a:rPr lang="tr-TR"/>
              <a:t>Açılan ekranda Edit inbound rules kutucuğunu seçiyoruz</a:t>
            </a:r>
          </a:p>
        </p:txBody>
      </p:sp>
      <p:pic>
        <p:nvPicPr>
          <p:cNvPr id="7" name="Resim 6">
            <a:extLst>
              <a:ext uri="{FF2B5EF4-FFF2-40B4-BE49-F238E27FC236}">
                <a16:creationId xmlns:a16="http://schemas.microsoft.com/office/drawing/2014/main" id="{B72958A7-D7B9-BFB7-0F37-E61426CC40B7}"/>
              </a:ext>
            </a:extLst>
          </p:cNvPr>
          <p:cNvPicPr>
            <a:picLocks noChangeAspect="1"/>
          </p:cNvPicPr>
          <p:nvPr/>
        </p:nvPicPr>
        <p:blipFill>
          <a:blip r:embed="rId2"/>
          <a:stretch>
            <a:fillRect/>
          </a:stretch>
        </p:blipFill>
        <p:spPr>
          <a:xfrm>
            <a:off x="0" y="1975980"/>
            <a:ext cx="12192000" cy="4882020"/>
          </a:xfrm>
          <a:prstGeom prst="rect">
            <a:avLst/>
          </a:prstGeom>
        </p:spPr>
      </p:pic>
    </p:spTree>
    <p:extLst>
      <p:ext uri="{BB962C8B-B14F-4D97-AF65-F5344CB8AC3E}">
        <p14:creationId xmlns:p14="http://schemas.microsoft.com/office/powerpoint/2010/main" val="18445203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81A39-4665-7F42-52AC-1BFEE136D8A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28630CF3-C626-B709-E63B-458B19368F19}"/>
              </a:ext>
            </a:extLst>
          </p:cNvPr>
          <p:cNvSpPr>
            <a:spLocks noGrp="1"/>
          </p:cNvSpPr>
          <p:nvPr>
            <p:ph type="title"/>
          </p:nvPr>
        </p:nvSpPr>
        <p:spPr/>
        <p:txBody>
          <a:bodyPr/>
          <a:lstStyle/>
          <a:p>
            <a:r>
              <a:rPr lang="tr-TR"/>
              <a:t>Python AWS EC2 deploy</a:t>
            </a:r>
          </a:p>
        </p:txBody>
      </p:sp>
      <p:sp>
        <p:nvSpPr>
          <p:cNvPr id="3" name="İçerik Yer Tutucusu 2">
            <a:extLst>
              <a:ext uri="{FF2B5EF4-FFF2-40B4-BE49-F238E27FC236}">
                <a16:creationId xmlns:a16="http://schemas.microsoft.com/office/drawing/2014/main" id="{B98F3882-6CB2-F365-ACB2-786A08D41129}"/>
              </a:ext>
            </a:extLst>
          </p:cNvPr>
          <p:cNvSpPr>
            <a:spLocks noGrp="1"/>
          </p:cNvSpPr>
          <p:nvPr>
            <p:ph idx="1"/>
          </p:nvPr>
        </p:nvSpPr>
        <p:spPr>
          <a:xfrm>
            <a:off x="2589212" y="1976284"/>
            <a:ext cx="8915400" cy="3777622"/>
          </a:xfrm>
        </p:spPr>
        <p:txBody>
          <a:bodyPr/>
          <a:lstStyle/>
          <a:p>
            <a:r>
              <a:rPr lang="tr-TR"/>
              <a:t>Aşağıdaki gibi Custom TCP, 8000 portu ve 0.0.0.0/0 adresini ekleyip save diyoruz</a:t>
            </a:r>
          </a:p>
        </p:txBody>
      </p:sp>
      <p:pic>
        <p:nvPicPr>
          <p:cNvPr id="5" name="Resim 4">
            <a:extLst>
              <a:ext uri="{FF2B5EF4-FFF2-40B4-BE49-F238E27FC236}">
                <a16:creationId xmlns:a16="http://schemas.microsoft.com/office/drawing/2014/main" id="{C280DAB5-08A2-537F-2E6B-19ED24AE17A1}"/>
              </a:ext>
            </a:extLst>
          </p:cNvPr>
          <p:cNvPicPr>
            <a:picLocks noChangeAspect="1"/>
          </p:cNvPicPr>
          <p:nvPr/>
        </p:nvPicPr>
        <p:blipFill>
          <a:blip r:embed="rId2"/>
          <a:stretch>
            <a:fillRect/>
          </a:stretch>
        </p:blipFill>
        <p:spPr>
          <a:xfrm>
            <a:off x="491612" y="2613563"/>
            <a:ext cx="12192000" cy="5249146"/>
          </a:xfrm>
          <a:prstGeom prst="rect">
            <a:avLst/>
          </a:prstGeom>
        </p:spPr>
      </p:pic>
    </p:spTree>
    <p:extLst>
      <p:ext uri="{BB962C8B-B14F-4D97-AF65-F5344CB8AC3E}">
        <p14:creationId xmlns:p14="http://schemas.microsoft.com/office/powerpoint/2010/main" val="8633197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06EE9B3-FCA9-7CAE-B1FA-BCFA33DF2453}"/>
              </a:ext>
            </a:extLst>
          </p:cNvPr>
          <p:cNvSpPr>
            <a:spLocks noGrp="1"/>
          </p:cNvSpPr>
          <p:nvPr>
            <p:ph type="title"/>
          </p:nvPr>
        </p:nvSpPr>
        <p:spPr/>
        <p:txBody>
          <a:bodyPr/>
          <a:lstStyle/>
          <a:p>
            <a:r>
              <a:rPr lang="tr-TR"/>
              <a:t>Github</a:t>
            </a:r>
          </a:p>
        </p:txBody>
      </p:sp>
      <p:sp>
        <p:nvSpPr>
          <p:cNvPr id="3" name="İçerik Yer Tutucusu 2">
            <a:extLst>
              <a:ext uri="{FF2B5EF4-FFF2-40B4-BE49-F238E27FC236}">
                <a16:creationId xmlns:a16="http://schemas.microsoft.com/office/drawing/2014/main" id="{6B3DC841-8668-6B98-2BE0-03D0693CC882}"/>
              </a:ext>
            </a:extLst>
          </p:cNvPr>
          <p:cNvSpPr>
            <a:spLocks noGrp="1"/>
          </p:cNvSpPr>
          <p:nvPr>
            <p:ph idx="1"/>
          </p:nvPr>
        </p:nvSpPr>
        <p:spPr>
          <a:xfrm>
            <a:off x="2422063" y="1651819"/>
            <a:ext cx="8915400" cy="3777622"/>
          </a:xfrm>
        </p:spPr>
        <p:txBody>
          <a:bodyPr/>
          <a:lstStyle/>
          <a:p>
            <a:r>
              <a:rPr lang="tr-TR"/>
              <a:t>Daha sonra github repository’de yeni eklediğimiz projemizi seçip sırasıyla </a:t>
            </a:r>
          </a:p>
          <a:p>
            <a:pPr lvl="1"/>
            <a:r>
              <a:rPr lang="en-US"/>
              <a:t>Settings → Secrets and variables → Actions → New repository secret</a:t>
            </a:r>
            <a:r>
              <a:rPr lang="tr-TR"/>
              <a:t> </a:t>
            </a:r>
          </a:p>
          <a:p>
            <a:r>
              <a:rPr lang="tr-TR"/>
              <a:t>Seçiyoruz ve aşağıdaki ekrana geliyoruz</a:t>
            </a:r>
          </a:p>
          <a:p>
            <a:endParaRPr lang="tr-TR"/>
          </a:p>
          <a:p>
            <a:endParaRPr lang="tr-TR"/>
          </a:p>
        </p:txBody>
      </p:sp>
      <p:pic>
        <p:nvPicPr>
          <p:cNvPr id="5" name="Resim 4">
            <a:extLst>
              <a:ext uri="{FF2B5EF4-FFF2-40B4-BE49-F238E27FC236}">
                <a16:creationId xmlns:a16="http://schemas.microsoft.com/office/drawing/2014/main" id="{EEF164D1-5267-1826-7D0B-B68301E53E58}"/>
              </a:ext>
            </a:extLst>
          </p:cNvPr>
          <p:cNvPicPr>
            <a:picLocks noChangeAspect="1"/>
          </p:cNvPicPr>
          <p:nvPr/>
        </p:nvPicPr>
        <p:blipFill>
          <a:blip r:embed="rId2"/>
          <a:stretch>
            <a:fillRect/>
          </a:stretch>
        </p:blipFill>
        <p:spPr>
          <a:xfrm>
            <a:off x="0" y="2957547"/>
            <a:ext cx="12192000" cy="4032694"/>
          </a:xfrm>
          <a:prstGeom prst="rect">
            <a:avLst/>
          </a:prstGeom>
        </p:spPr>
      </p:pic>
    </p:spTree>
    <p:extLst>
      <p:ext uri="{BB962C8B-B14F-4D97-AF65-F5344CB8AC3E}">
        <p14:creationId xmlns:p14="http://schemas.microsoft.com/office/powerpoint/2010/main" val="276879500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49800B6-C5ED-9769-BA40-31BB10C88C2E}"/>
              </a:ext>
            </a:extLst>
          </p:cNvPr>
          <p:cNvSpPr>
            <a:spLocks noGrp="1"/>
          </p:cNvSpPr>
          <p:nvPr>
            <p:ph type="title"/>
          </p:nvPr>
        </p:nvSpPr>
        <p:spPr/>
        <p:txBody>
          <a:bodyPr/>
          <a:lstStyle/>
          <a:p>
            <a:r>
              <a:rPr lang="tr-TR"/>
              <a:t>Github	</a:t>
            </a:r>
          </a:p>
        </p:txBody>
      </p:sp>
      <p:sp>
        <p:nvSpPr>
          <p:cNvPr id="3" name="İçerik Yer Tutucusu 2">
            <a:extLst>
              <a:ext uri="{FF2B5EF4-FFF2-40B4-BE49-F238E27FC236}">
                <a16:creationId xmlns:a16="http://schemas.microsoft.com/office/drawing/2014/main" id="{F7F30D1F-85EC-2115-C790-81A3C105EE2E}"/>
              </a:ext>
            </a:extLst>
          </p:cNvPr>
          <p:cNvSpPr>
            <a:spLocks noGrp="1"/>
          </p:cNvSpPr>
          <p:nvPr>
            <p:ph idx="1"/>
          </p:nvPr>
        </p:nvSpPr>
        <p:spPr>
          <a:xfrm>
            <a:off x="2589212" y="1759974"/>
            <a:ext cx="8915400" cy="3777622"/>
          </a:xfrm>
        </p:spPr>
        <p:txBody>
          <a:bodyPr/>
          <a:lstStyle/>
          <a:p>
            <a:r>
              <a:rPr lang="tr-TR"/>
              <a:t>Kendi sunucunuzun ip adresini yazıp add secret seçip çıkan ekranda "new repository secret" seçeceksiniz</a:t>
            </a:r>
          </a:p>
        </p:txBody>
      </p:sp>
      <p:pic>
        <p:nvPicPr>
          <p:cNvPr id="7" name="Resim 6">
            <a:extLst>
              <a:ext uri="{FF2B5EF4-FFF2-40B4-BE49-F238E27FC236}">
                <a16:creationId xmlns:a16="http://schemas.microsoft.com/office/drawing/2014/main" id="{93442C4E-BAC2-1961-1F54-F28C6BDE83C3}"/>
              </a:ext>
            </a:extLst>
          </p:cNvPr>
          <p:cNvPicPr>
            <a:picLocks noChangeAspect="1"/>
          </p:cNvPicPr>
          <p:nvPr/>
        </p:nvPicPr>
        <p:blipFill>
          <a:blip r:embed="rId2"/>
          <a:stretch>
            <a:fillRect/>
          </a:stretch>
        </p:blipFill>
        <p:spPr>
          <a:xfrm>
            <a:off x="107777" y="2459162"/>
            <a:ext cx="11976446" cy="4987677"/>
          </a:xfrm>
          <a:prstGeom prst="rect">
            <a:avLst/>
          </a:prstGeom>
        </p:spPr>
      </p:pic>
    </p:spTree>
    <p:extLst>
      <p:ext uri="{BB962C8B-B14F-4D97-AF65-F5344CB8AC3E}">
        <p14:creationId xmlns:p14="http://schemas.microsoft.com/office/powerpoint/2010/main" val="32201957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621F4-EB24-5163-2BF4-6C1C5D71DB09}"/>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0B77ACF-AEBA-4A6F-F9C7-FAC45EDDC47F}"/>
              </a:ext>
            </a:extLst>
          </p:cNvPr>
          <p:cNvSpPr>
            <a:spLocks noGrp="1"/>
          </p:cNvSpPr>
          <p:nvPr>
            <p:ph type="title"/>
          </p:nvPr>
        </p:nvSpPr>
        <p:spPr/>
        <p:txBody>
          <a:bodyPr/>
          <a:lstStyle/>
          <a:p>
            <a:r>
              <a:rPr lang="tr-TR"/>
              <a:t>Github	</a:t>
            </a:r>
          </a:p>
        </p:txBody>
      </p:sp>
      <p:sp>
        <p:nvSpPr>
          <p:cNvPr id="3" name="İçerik Yer Tutucusu 2">
            <a:extLst>
              <a:ext uri="{FF2B5EF4-FFF2-40B4-BE49-F238E27FC236}">
                <a16:creationId xmlns:a16="http://schemas.microsoft.com/office/drawing/2014/main" id="{C627888D-0876-4F6A-4157-3A5FC1A8E711}"/>
              </a:ext>
            </a:extLst>
          </p:cNvPr>
          <p:cNvSpPr>
            <a:spLocks noGrp="1"/>
          </p:cNvSpPr>
          <p:nvPr>
            <p:ph idx="1"/>
          </p:nvPr>
        </p:nvSpPr>
        <p:spPr>
          <a:xfrm>
            <a:off x="2589212" y="1759974"/>
            <a:ext cx="8915400" cy="3777622"/>
          </a:xfrm>
        </p:spPr>
        <p:txBody>
          <a:bodyPr/>
          <a:lstStyle/>
          <a:p>
            <a:r>
              <a:rPr lang="tr-TR"/>
              <a:t>Aşağıdaki bilgileri yazıp add secret seçip çıkan ekranda "new repository secret" seçeceksiniz</a:t>
            </a:r>
          </a:p>
        </p:txBody>
      </p:sp>
      <p:pic>
        <p:nvPicPr>
          <p:cNvPr id="5" name="Resim 4">
            <a:extLst>
              <a:ext uri="{FF2B5EF4-FFF2-40B4-BE49-F238E27FC236}">
                <a16:creationId xmlns:a16="http://schemas.microsoft.com/office/drawing/2014/main" id="{D1372054-27C2-4582-630D-14FBD54A63EE}"/>
              </a:ext>
            </a:extLst>
          </p:cNvPr>
          <p:cNvPicPr>
            <a:picLocks noChangeAspect="1"/>
          </p:cNvPicPr>
          <p:nvPr/>
        </p:nvPicPr>
        <p:blipFill>
          <a:blip r:embed="rId2"/>
          <a:stretch>
            <a:fillRect/>
          </a:stretch>
        </p:blipFill>
        <p:spPr>
          <a:xfrm>
            <a:off x="0" y="2703871"/>
            <a:ext cx="12192000" cy="4376142"/>
          </a:xfrm>
          <a:prstGeom prst="rect">
            <a:avLst/>
          </a:prstGeom>
        </p:spPr>
      </p:pic>
    </p:spTree>
    <p:extLst>
      <p:ext uri="{BB962C8B-B14F-4D97-AF65-F5344CB8AC3E}">
        <p14:creationId xmlns:p14="http://schemas.microsoft.com/office/powerpoint/2010/main" val="19440095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E63BF-6CAB-3391-F341-D7C54EBD94D3}"/>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C2963922-4BD4-63D3-1BAE-E071D09542F5}"/>
              </a:ext>
            </a:extLst>
          </p:cNvPr>
          <p:cNvSpPr>
            <a:spLocks noGrp="1"/>
          </p:cNvSpPr>
          <p:nvPr>
            <p:ph type="title"/>
          </p:nvPr>
        </p:nvSpPr>
        <p:spPr/>
        <p:txBody>
          <a:bodyPr/>
          <a:lstStyle/>
          <a:p>
            <a:r>
              <a:rPr lang="tr-TR"/>
              <a:t>Github	</a:t>
            </a:r>
          </a:p>
        </p:txBody>
      </p:sp>
      <p:sp>
        <p:nvSpPr>
          <p:cNvPr id="3" name="İçerik Yer Tutucusu 2">
            <a:extLst>
              <a:ext uri="{FF2B5EF4-FFF2-40B4-BE49-F238E27FC236}">
                <a16:creationId xmlns:a16="http://schemas.microsoft.com/office/drawing/2014/main" id="{D36337E3-6EB6-6722-9867-07D4A5B30413}"/>
              </a:ext>
            </a:extLst>
          </p:cNvPr>
          <p:cNvSpPr>
            <a:spLocks noGrp="1"/>
          </p:cNvSpPr>
          <p:nvPr>
            <p:ph idx="1"/>
          </p:nvPr>
        </p:nvSpPr>
        <p:spPr>
          <a:xfrm>
            <a:off x="2589212" y="1720645"/>
            <a:ext cx="8915400" cy="3777622"/>
          </a:xfrm>
        </p:spPr>
        <p:txBody>
          <a:bodyPr/>
          <a:lstStyle/>
          <a:p>
            <a:r>
              <a:rPr lang="tr-TR"/>
              <a:t>Pem dosyamızı Notepad ile açıp kopyalayıp secret kısmına ekliyoruz. Add secret diyip işlemleri bitiriyoruz, new repository secret’i artık seçmiyorsunuz.</a:t>
            </a:r>
          </a:p>
        </p:txBody>
      </p:sp>
      <p:pic>
        <p:nvPicPr>
          <p:cNvPr id="6" name="Resim 5">
            <a:extLst>
              <a:ext uri="{FF2B5EF4-FFF2-40B4-BE49-F238E27FC236}">
                <a16:creationId xmlns:a16="http://schemas.microsoft.com/office/drawing/2014/main" id="{3AB0EABE-780A-E120-F434-936879327200}"/>
              </a:ext>
            </a:extLst>
          </p:cNvPr>
          <p:cNvPicPr>
            <a:picLocks noChangeAspect="1"/>
          </p:cNvPicPr>
          <p:nvPr/>
        </p:nvPicPr>
        <p:blipFill>
          <a:blip r:embed="rId2"/>
          <a:stretch>
            <a:fillRect/>
          </a:stretch>
        </p:blipFill>
        <p:spPr>
          <a:xfrm>
            <a:off x="0" y="2428568"/>
            <a:ext cx="12192000" cy="4429432"/>
          </a:xfrm>
          <a:prstGeom prst="rect">
            <a:avLst/>
          </a:prstGeom>
        </p:spPr>
      </p:pic>
    </p:spTree>
    <p:extLst>
      <p:ext uri="{BB962C8B-B14F-4D97-AF65-F5344CB8AC3E}">
        <p14:creationId xmlns:p14="http://schemas.microsoft.com/office/powerpoint/2010/main" val="24680510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763E2-0C1A-7B4B-5D48-1BD520863AAB}"/>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007CCEE3-004E-7020-E806-BEE7B15C8133}"/>
              </a:ext>
            </a:extLst>
          </p:cNvPr>
          <p:cNvSpPr>
            <a:spLocks noGrp="1"/>
          </p:cNvSpPr>
          <p:nvPr>
            <p:ph type="title"/>
          </p:nvPr>
        </p:nvSpPr>
        <p:spPr/>
        <p:txBody>
          <a:bodyPr/>
          <a:lstStyle/>
          <a:p>
            <a:r>
              <a:rPr lang="tr-TR"/>
              <a:t>Github	</a:t>
            </a:r>
          </a:p>
        </p:txBody>
      </p:sp>
      <p:sp>
        <p:nvSpPr>
          <p:cNvPr id="3" name="İçerik Yer Tutucusu 2">
            <a:extLst>
              <a:ext uri="{FF2B5EF4-FFF2-40B4-BE49-F238E27FC236}">
                <a16:creationId xmlns:a16="http://schemas.microsoft.com/office/drawing/2014/main" id="{9078A960-2173-FB2B-56F2-C40197A36AB2}"/>
              </a:ext>
            </a:extLst>
          </p:cNvPr>
          <p:cNvSpPr>
            <a:spLocks noGrp="1"/>
          </p:cNvSpPr>
          <p:nvPr>
            <p:ph idx="1"/>
          </p:nvPr>
        </p:nvSpPr>
        <p:spPr>
          <a:xfrm>
            <a:off x="2589212" y="1720645"/>
            <a:ext cx="8915400" cy="3777622"/>
          </a:xfrm>
        </p:spPr>
        <p:txBody>
          <a:bodyPr/>
          <a:lstStyle/>
          <a:p>
            <a:r>
              <a:rPr lang="tr-TR"/>
              <a:t>Daha sonra yeni projemizi repository’den seçip açılan ekranda add file, create new file seçeneğini seçiyoruz</a:t>
            </a:r>
          </a:p>
        </p:txBody>
      </p:sp>
      <p:pic>
        <p:nvPicPr>
          <p:cNvPr id="5" name="Resim 4">
            <a:extLst>
              <a:ext uri="{FF2B5EF4-FFF2-40B4-BE49-F238E27FC236}">
                <a16:creationId xmlns:a16="http://schemas.microsoft.com/office/drawing/2014/main" id="{231B66BC-EE94-AC7D-58F0-72A3419ED99C}"/>
              </a:ext>
            </a:extLst>
          </p:cNvPr>
          <p:cNvPicPr>
            <a:picLocks noChangeAspect="1"/>
          </p:cNvPicPr>
          <p:nvPr/>
        </p:nvPicPr>
        <p:blipFill>
          <a:blip r:embed="rId2"/>
          <a:stretch>
            <a:fillRect/>
          </a:stretch>
        </p:blipFill>
        <p:spPr>
          <a:xfrm>
            <a:off x="0" y="2428568"/>
            <a:ext cx="12192000" cy="4429432"/>
          </a:xfrm>
          <a:prstGeom prst="rect">
            <a:avLst/>
          </a:prstGeom>
        </p:spPr>
      </p:pic>
    </p:spTree>
    <p:extLst>
      <p:ext uri="{BB962C8B-B14F-4D97-AF65-F5344CB8AC3E}">
        <p14:creationId xmlns:p14="http://schemas.microsoft.com/office/powerpoint/2010/main" val="8509752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5117B-54D9-3A50-CC52-166C56964F1F}"/>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98AE82C-7150-832A-5B9F-4FCB4CD6F078}"/>
              </a:ext>
            </a:extLst>
          </p:cNvPr>
          <p:cNvSpPr>
            <a:spLocks noGrp="1"/>
          </p:cNvSpPr>
          <p:nvPr>
            <p:ph idx="1"/>
          </p:nvPr>
        </p:nvSpPr>
        <p:spPr>
          <a:xfrm>
            <a:off x="2333574" y="403122"/>
            <a:ext cx="8915400" cy="3777622"/>
          </a:xfrm>
        </p:spPr>
        <p:txBody>
          <a:bodyPr/>
          <a:lstStyle/>
          <a:p>
            <a:r>
              <a:rPr lang="tr-TR"/>
              <a:t>Name your file… yazısının bulunduğu kısma aşağıdaki ismi yazıyoruz</a:t>
            </a:r>
          </a:p>
          <a:p>
            <a:pPr lvl="1"/>
            <a:r>
              <a:rPr lang="tr-TR"/>
              <a:t>.github/workflows/deploy.yml</a:t>
            </a:r>
          </a:p>
          <a:p>
            <a:r>
              <a:rPr lang="tr-TR"/>
              <a:t>ve bir sonraki slaytta bulunan kodları alt kısma ekliyoruz. Ekrandaki sadece mavi ile gözüken satırı kendi bilgilerinize göre güncellemeniz gerekmektedir, sonrasında commit changes seçeneğini seçiyorsunuz</a:t>
            </a:r>
          </a:p>
          <a:p>
            <a:pPr lvl="1"/>
            <a:endParaRPr lang="tr-TR"/>
          </a:p>
        </p:txBody>
      </p:sp>
      <p:pic>
        <p:nvPicPr>
          <p:cNvPr id="10" name="Resim 9">
            <a:extLst>
              <a:ext uri="{FF2B5EF4-FFF2-40B4-BE49-F238E27FC236}">
                <a16:creationId xmlns:a16="http://schemas.microsoft.com/office/drawing/2014/main" id="{8093EB9C-A62C-6031-9408-97D9E6425BE7}"/>
              </a:ext>
            </a:extLst>
          </p:cNvPr>
          <p:cNvPicPr>
            <a:picLocks noChangeAspect="1"/>
          </p:cNvPicPr>
          <p:nvPr/>
        </p:nvPicPr>
        <p:blipFill>
          <a:blip r:embed="rId2"/>
          <a:stretch>
            <a:fillRect/>
          </a:stretch>
        </p:blipFill>
        <p:spPr>
          <a:xfrm>
            <a:off x="0" y="2123768"/>
            <a:ext cx="12192000" cy="4734232"/>
          </a:xfrm>
          <a:prstGeom prst="rect">
            <a:avLst/>
          </a:prstGeom>
        </p:spPr>
      </p:pic>
    </p:spTree>
    <p:extLst>
      <p:ext uri="{BB962C8B-B14F-4D97-AF65-F5344CB8AC3E}">
        <p14:creationId xmlns:p14="http://schemas.microsoft.com/office/powerpoint/2010/main" val="9782541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F1FCD-7888-9E0E-0758-2946E94ACBEA}"/>
            </a:ext>
          </a:extLst>
        </p:cNvPr>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D3FB899-2139-A375-F73B-8260248F11EC}"/>
              </a:ext>
            </a:extLst>
          </p:cNvPr>
          <p:cNvSpPr>
            <a:spLocks noGrp="1"/>
          </p:cNvSpPr>
          <p:nvPr>
            <p:ph idx="1"/>
          </p:nvPr>
        </p:nvSpPr>
        <p:spPr>
          <a:xfrm>
            <a:off x="2333574" y="403122"/>
            <a:ext cx="8915400" cy="3777622"/>
          </a:xfrm>
        </p:spPr>
        <p:txBody>
          <a:bodyPr>
            <a:noAutofit/>
          </a:bodyPr>
          <a:lstStyle/>
          <a:p>
            <a:r>
              <a:rPr lang="tr-TR" sz="800"/>
              <a:t>name: Deploy Mail Service to EC2</a:t>
            </a:r>
          </a:p>
          <a:p>
            <a:endParaRPr lang="tr-TR" sz="800"/>
          </a:p>
          <a:p>
            <a:r>
              <a:rPr lang="tr-TR" sz="800"/>
              <a:t>on:</a:t>
            </a:r>
          </a:p>
          <a:p>
            <a:r>
              <a:rPr lang="tr-TR" sz="800"/>
              <a:t>  push:</a:t>
            </a:r>
          </a:p>
          <a:p>
            <a:r>
              <a:rPr lang="tr-TR" sz="800"/>
              <a:t>    branches:</a:t>
            </a:r>
          </a:p>
          <a:p>
            <a:r>
              <a:rPr lang="tr-TR" sz="800"/>
              <a:t>      - main</a:t>
            </a:r>
          </a:p>
          <a:p>
            <a:endParaRPr lang="tr-TR" sz="800"/>
          </a:p>
          <a:p>
            <a:r>
              <a:rPr lang="tr-TR" sz="800"/>
              <a:t>jobs:</a:t>
            </a:r>
          </a:p>
          <a:p>
            <a:r>
              <a:rPr lang="tr-TR" sz="800"/>
              <a:t>  deploy:</a:t>
            </a:r>
          </a:p>
          <a:p>
            <a:r>
              <a:rPr lang="tr-TR" sz="800"/>
              <a:t>    runs-on: ubuntu-latest</a:t>
            </a:r>
          </a:p>
          <a:p>
            <a:endParaRPr lang="tr-TR" sz="800"/>
          </a:p>
          <a:p>
            <a:r>
              <a:rPr lang="tr-TR" sz="800"/>
              <a:t>    steps:</a:t>
            </a:r>
          </a:p>
          <a:p>
            <a:r>
              <a:rPr lang="tr-TR" sz="800"/>
              <a:t>      - name: Repo klonla</a:t>
            </a:r>
          </a:p>
          <a:p>
            <a:r>
              <a:rPr lang="tr-TR" sz="800"/>
              <a:t>        uses: actions/checkout@v4</a:t>
            </a:r>
          </a:p>
          <a:p>
            <a:endParaRPr lang="tr-TR" sz="800"/>
          </a:p>
          <a:p>
            <a:r>
              <a:rPr lang="tr-TR" sz="800"/>
              <a:t>      - name: SSH key ayarla</a:t>
            </a:r>
          </a:p>
          <a:p>
            <a:r>
              <a:rPr lang="tr-TR" sz="800"/>
              <a:t>        run: |</a:t>
            </a:r>
          </a:p>
          <a:p>
            <a:r>
              <a:rPr lang="tr-TR" sz="800"/>
              <a:t>          mkdir -p ~/.ssh</a:t>
            </a:r>
          </a:p>
          <a:p>
            <a:r>
              <a:rPr lang="tr-TR" sz="800"/>
              <a:t>          echo "${{ secrets.EC2_KEY }}" &gt; ~/.ssh/ec2_key.pem</a:t>
            </a:r>
          </a:p>
          <a:p>
            <a:r>
              <a:rPr lang="tr-TR" sz="800"/>
              <a:t>          chmod 600 ~/.ssh/ec2_key.pem</a:t>
            </a:r>
          </a:p>
          <a:p>
            <a:endParaRPr lang="tr-TR" sz="800"/>
          </a:p>
          <a:p>
            <a:r>
              <a:rPr lang="tr-TR" sz="800"/>
              <a:t>      - name: EC2 known_hosts ekle</a:t>
            </a:r>
          </a:p>
          <a:p>
            <a:r>
              <a:rPr lang="tr-TR" sz="800"/>
              <a:t>        run: |</a:t>
            </a:r>
          </a:p>
          <a:p>
            <a:r>
              <a:rPr lang="tr-TR" sz="800"/>
              <a:t>          ssh-keyscan -H ${{ secrets.EC2_HOST }} &gt;&gt; ~/.ssh/known_hosts</a:t>
            </a:r>
          </a:p>
          <a:p>
            <a:endParaRPr lang="tr-TR" sz="800"/>
          </a:p>
          <a:p>
            <a:r>
              <a:rPr lang="tr-TR" sz="800"/>
              <a:t>      - name: EC2’ye bağlan ve deploy et</a:t>
            </a:r>
          </a:p>
          <a:p>
            <a:r>
              <a:rPr lang="tr-TR" sz="800"/>
              <a:t>        run: |</a:t>
            </a:r>
          </a:p>
          <a:p>
            <a:r>
              <a:rPr lang="tr-TR" sz="800"/>
              <a:t>          ssh -i ~/.ssh/ec2_key.pem ${{ secrets.EC2_USER }}@${{ secrets.EC2_HOST }} &lt;&lt; 'EOF'</a:t>
            </a:r>
          </a:p>
          <a:p>
            <a:r>
              <a:rPr lang="tr-TR" sz="800"/>
              <a:t>            set -e</a:t>
            </a:r>
          </a:p>
          <a:p>
            <a:endParaRPr lang="tr-TR" sz="800"/>
          </a:p>
          <a:p>
            <a:r>
              <a:rPr lang="tr-TR" sz="800"/>
              <a:t>            if [ ! -d "mail-service" ]; then</a:t>
            </a:r>
          </a:p>
          <a:p>
            <a:r>
              <a:rPr lang="tr-TR" sz="800"/>
              <a:t>              git clone https://github.com/hvural02/mailPythonProjesiAdy-.git mail-service</a:t>
            </a:r>
          </a:p>
          <a:p>
            <a:r>
              <a:rPr lang="tr-TR" sz="800"/>
              <a:t>            fi</a:t>
            </a:r>
          </a:p>
          <a:p>
            <a:endParaRPr lang="tr-TR" sz="800"/>
          </a:p>
          <a:p>
            <a:r>
              <a:rPr lang="tr-TR" sz="800"/>
              <a:t>            cd mail-service</a:t>
            </a:r>
          </a:p>
          <a:p>
            <a:r>
              <a:rPr lang="tr-TR" sz="800"/>
              <a:t>            git pull origin main</a:t>
            </a:r>
          </a:p>
          <a:p>
            <a:endParaRPr lang="tr-TR" sz="800"/>
          </a:p>
          <a:p>
            <a:r>
              <a:rPr lang="tr-TR" sz="800"/>
              <a:t>            python3 -m venv venv || true</a:t>
            </a:r>
          </a:p>
          <a:p>
            <a:r>
              <a:rPr lang="tr-TR" sz="800"/>
              <a:t>            source venv/bin/activate</a:t>
            </a:r>
          </a:p>
          <a:p>
            <a:r>
              <a:rPr lang="tr-TR" sz="800"/>
              <a:t>            pip install --upgrade pip</a:t>
            </a:r>
          </a:p>
          <a:p>
            <a:r>
              <a:rPr lang="tr-TR" sz="800"/>
              <a:t>            pip install -r requirements.txt</a:t>
            </a:r>
          </a:p>
          <a:p>
            <a:endParaRPr lang="tr-TR" sz="800"/>
          </a:p>
          <a:p>
            <a:r>
              <a:rPr lang="tr-TR" sz="800"/>
              <a:t>            pkill -f uvicorn || true</a:t>
            </a:r>
          </a:p>
          <a:p>
            <a:endParaRPr lang="tr-TR" sz="800"/>
          </a:p>
          <a:p>
            <a:r>
              <a:rPr lang="tr-TR" sz="800"/>
              <a:t>            nohup venv/bin/uvicorn main:app --host 0.0.0.0 --port 8000 &gt; mail.log 2&gt;&amp;1 &amp;</a:t>
            </a:r>
          </a:p>
          <a:p>
            <a:r>
              <a:rPr lang="tr-TR" sz="800"/>
              <a:t>          EOF</a:t>
            </a:r>
          </a:p>
        </p:txBody>
      </p:sp>
    </p:spTree>
    <p:extLst>
      <p:ext uri="{BB962C8B-B14F-4D97-AF65-F5344CB8AC3E}">
        <p14:creationId xmlns:p14="http://schemas.microsoft.com/office/powerpoint/2010/main" val="26554137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7300838-9EC5-EC9F-4576-1D144E1790C5}"/>
              </a:ext>
            </a:extLst>
          </p:cNvPr>
          <p:cNvSpPr>
            <a:spLocks noGrp="1"/>
          </p:cNvSpPr>
          <p:nvPr>
            <p:ph type="title"/>
          </p:nvPr>
        </p:nvSpPr>
        <p:spPr/>
        <p:txBody>
          <a:bodyPr/>
          <a:lstStyle/>
          <a:p>
            <a:r>
              <a:rPr lang="tr-TR"/>
              <a:t>Github	</a:t>
            </a:r>
          </a:p>
        </p:txBody>
      </p:sp>
      <p:sp>
        <p:nvSpPr>
          <p:cNvPr id="3" name="İçerik Yer Tutucusu 2">
            <a:extLst>
              <a:ext uri="{FF2B5EF4-FFF2-40B4-BE49-F238E27FC236}">
                <a16:creationId xmlns:a16="http://schemas.microsoft.com/office/drawing/2014/main" id="{3B5F51D7-D50C-0587-2FE9-6EEA2170FFAA}"/>
              </a:ext>
            </a:extLst>
          </p:cNvPr>
          <p:cNvSpPr>
            <a:spLocks noGrp="1"/>
          </p:cNvSpPr>
          <p:nvPr>
            <p:ph idx="1"/>
          </p:nvPr>
        </p:nvSpPr>
        <p:spPr/>
        <p:txBody>
          <a:bodyPr/>
          <a:lstStyle/>
          <a:p>
            <a:r>
              <a:rPr lang="tr-TR"/>
              <a:t>Github actions’da yeşil tiki gördüyseniz sunucuya yüklenmiş demektir</a:t>
            </a:r>
          </a:p>
        </p:txBody>
      </p:sp>
      <p:pic>
        <p:nvPicPr>
          <p:cNvPr id="5" name="Resim 4">
            <a:extLst>
              <a:ext uri="{FF2B5EF4-FFF2-40B4-BE49-F238E27FC236}">
                <a16:creationId xmlns:a16="http://schemas.microsoft.com/office/drawing/2014/main" id="{E1A333A7-5914-C3BF-0159-EFC5AB26B30E}"/>
              </a:ext>
            </a:extLst>
          </p:cNvPr>
          <p:cNvPicPr>
            <a:picLocks noChangeAspect="1"/>
          </p:cNvPicPr>
          <p:nvPr/>
        </p:nvPicPr>
        <p:blipFill>
          <a:blip r:embed="rId2"/>
          <a:stretch>
            <a:fillRect/>
          </a:stretch>
        </p:blipFill>
        <p:spPr>
          <a:xfrm>
            <a:off x="0" y="2585884"/>
            <a:ext cx="12192000" cy="4404726"/>
          </a:xfrm>
          <a:prstGeom prst="rect">
            <a:avLst/>
          </a:prstGeom>
        </p:spPr>
      </p:pic>
    </p:spTree>
    <p:extLst>
      <p:ext uri="{BB962C8B-B14F-4D97-AF65-F5344CB8AC3E}">
        <p14:creationId xmlns:p14="http://schemas.microsoft.com/office/powerpoint/2010/main" val="289263470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3218E-9E7D-1010-A86E-E4917F86EB70}"/>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350602BA-4F1B-81FA-9D12-49037B98D19B}"/>
              </a:ext>
            </a:extLst>
          </p:cNvPr>
          <p:cNvSpPr>
            <a:spLocks noGrp="1"/>
          </p:cNvSpPr>
          <p:nvPr>
            <p:ph type="title"/>
          </p:nvPr>
        </p:nvSpPr>
        <p:spPr/>
        <p:txBody>
          <a:bodyPr/>
          <a:lstStyle/>
          <a:p>
            <a:r>
              <a:rPr lang="tr-TR"/>
              <a:t>Github	</a:t>
            </a:r>
          </a:p>
        </p:txBody>
      </p:sp>
      <p:sp>
        <p:nvSpPr>
          <p:cNvPr id="3" name="İçerik Yer Tutucusu 2">
            <a:extLst>
              <a:ext uri="{FF2B5EF4-FFF2-40B4-BE49-F238E27FC236}">
                <a16:creationId xmlns:a16="http://schemas.microsoft.com/office/drawing/2014/main" id="{63D242AD-1957-DF6C-F9D0-D16AAEDEC5EF}"/>
              </a:ext>
            </a:extLst>
          </p:cNvPr>
          <p:cNvSpPr>
            <a:spLocks noGrp="1"/>
          </p:cNvSpPr>
          <p:nvPr>
            <p:ph idx="1"/>
          </p:nvPr>
        </p:nvSpPr>
        <p:spPr/>
        <p:txBody>
          <a:bodyPr/>
          <a:lstStyle/>
          <a:p>
            <a:r>
              <a:rPr lang="tr-TR"/>
              <a:t>Tarayıcıda </a:t>
            </a:r>
            <a:r>
              <a:rPr lang="tr-TR">
                <a:hlinkClick r:id="rId2"/>
              </a:rPr>
              <a:t>http://16.16.67.213:8000/docs</a:t>
            </a:r>
            <a:r>
              <a:rPr lang="tr-TR"/>
              <a:t> adresine gidip ekranda aşağıdaki sonucu görmeniz gerekmektedir</a:t>
            </a:r>
          </a:p>
        </p:txBody>
      </p:sp>
      <p:pic>
        <p:nvPicPr>
          <p:cNvPr id="6" name="Resim 5">
            <a:extLst>
              <a:ext uri="{FF2B5EF4-FFF2-40B4-BE49-F238E27FC236}">
                <a16:creationId xmlns:a16="http://schemas.microsoft.com/office/drawing/2014/main" id="{AB5417BF-4504-B561-3663-D1F7DCD74FFE}"/>
              </a:ext>
            </a:extLst>
          </p:cNvPr>
          <p:cNvPicPr>
            <a:picLocks noChangeAspect="1"/>
          </p:cNvPicPr>
          <p:nvPr/>
        </p:nvPicPr>
        <p:blipFill>
          <a:blip r:embed="rId3"/>
          <a:stretch>
            <a:fillRect/>
          </a:stretch>
        </p:blipFill>
        <p:spPr>
          <a:xfrm>
            <a:off x="0" y="2900516"/>
            <a:ext cx="12192000" cy="3990810"/>
          </a:xfrm>
          <a:prstGeom prst="rect">
            <a:avLst/>
          </a:prstGeom>
        </p:spPr>
      </p:pic>
    </p:spTree>
    <p:extLst>
      <p:ext uri="{BB962C8B-B14F-4D97-AF65-F5344CB8AC3E}">
        <p14:creationId xmlns:p14="http://schemas.microsoft.com/office/powerpoint/2010/main" val="38975072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6343C38-9ABB-1BAB-3292-EC2973DD2786}"/>
              </a:ext>
            </a:extLst>
          </p:cNvPr>
          <p:cNvSpPr>
            <a:spLocks noGrp="1"/>
          </p:cNvSpPr>
          <p:nvPr>
            <p:ph type="title"/>
          </p:nvPr>
        </p:nvSpPr>
        <p:spPr/>
        <p:txBody>
          <a:bodyPr/>
          <a:lstStyle/>
          <a:p>
            <a:r>
              <a:rPr lang="tr-TR"/>
              <a:t>Github	</a:t>
            </a:r>
          </a:p>
        </p:txBody>
      </p:sp>
      <p:sp>
        <p:nvSpPr>
          <p:cNvPr id="3" name="İçerik Yer Tutucusu 2">
            <a:extLst>
              <a:ext uri="{FF2B5EF4-FFF2-40B4-BE49-F238E27FC236}">
                <a16:creationId xmlns:a16="http://schemas.microsoft.com/office/drawing/2014/main" id="{041BFF61-2A57-0B7C-C2DA-11CCB7FE951D}"/>
              </a:ext>
            </a:extLst>
          </p:cNvPr>
          <p:cNvSpPr>
            <a:spLocks noGrp="1"/>
          </p:cNvSpPr>
          <p:nvPr>
            <p:ph idx="1"/>
          </p:nvPr>
        </p:nvSpPr>
        <p:spPr/>
        <p:txBody>
          <a:bodyPr/>
          <a:lstStyle/>
          <a:p>
            <a:r>
              <a:rPr lang="tr-TR"/>
              <a:t>Eğer sonuç başarılı ise Spring boot’ta application.properties dosyasına gidip aşağıdaki kodu ekliyoruz (Not: sunucunuzun ip adresi olacak)</a:t>
            </a:r>
          </a:p>
          <a:p>
            <a:pPr lvl="1"/>
            <a:r>
              <a:rPr lang="tr-TR" u="sng"/>
              <a:t>mail.service.url</a:t>
            </a:r>
            <a:r>
              <a:rPr lang="tr-TR"/>
              <a:t>=http://16.16.67.213:8000 </a:t>
            </a:r>
          </a:p>
          <a:p>
            <a:pPr lvl="1"/>
            <a:endParaRPr lang="tr-TR"/>
          </a:p>
          <a:p>
            <a:r>
              <a:rPr lang="tr-TR"/>
              <a:t>application.properties dosyasına ekleyip direkt kodun içerisine eklememizin nedeni katmanlı mimari gereği kodları ayırmaktır; bağlantı ayarları, veritabanı ayarları, sunucu ayarları, güvenlik ayarları gibi bilgiler ile iş kodlarını ayırmaktır yoksa direk kod içinde de adresi güncelleyeblirdik. </a:t>
            </a:r>
          </a:p>
        </p:txBody>
      </p:sp>
    </p:spTree>
    <p:extLst>
      <p:ext uri="{BB962C8B-B14F-4D97-AF65-F5344CB8AC3E}">
        <p14:creationId xmlns:p14="http://schemas.microsoft.com/office/powerpoint/2010/main" val="5338708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1114875-0BAF-CCC9-5333-BE300B7A2A5E}"/>
              </a:ext>
            </a:extLst>
          </p:cNvPr>
          <p:cNvSpPr>
            <a:spLocks noGrp="1"/>
          </p:cNvSpPr>
          <p:nvPr>
            <p:ph type="title"/>
          </p:nvPr>
        </p:nvSpPr>
        <p:spPr/>
        <p:txBody>
          <a:bodyPr/>
          <a:lstStyle/>
          <a:p>
            <a:r>
              <a:rPr lang="tr-TR"/>
              <a:t>Mail Servisi</a:t>
            </a:r>
          </a:p>
        </p:txBody>
      </p:sp>
      <p:sp>
        <p:nvSpPr>
          <p:cNvPr id="3" name="İçerik Yer Tutucusu 2">
            <a:extLst>
              <a:ext uri="{FF2B5EF4-FFF2-40B4-BE49-F238E27FC236}">
                <a16:creationId xmlns:a16="http://schemas.microsoft.com/office/drawing/2014/main" id="{457E8696-9D94-92F3-1701-8E4F8917ABBE}"/>
              </a:ext>
            </a:extLst>
          </p:cNvPr>
          <p:cNvSpPr>
            <a:spLocks noGrp="1"/>
          </p:cNvSpPr>
          <p:nvPr>
            <p:ph idx="1"/>
          </p:nvPr>
        </p:nvSpPr>
        <p:spPr/>
        <p:txBody>
          <a:bodyPr>
            <a:normAutofit fontScale="25000" lnSpcReduction="20000"/>
          </a:bodyPr>
          <a:lstStyle/>
          <a:p>
            <a:r>
              <a:rPr lang="tr-TR" b="1"/>
              <a:t>package</a:t>
            </a:r>
            <a:r>
              <a:rPr lang="tr-TR"/>
              <a:t> com.ornek.kitapliste.servis;</a:t>
            </a:r>
          </a:p>
          <a:p>
            <a:br>
              <a:rPr lang="tr-TR"/>
            </a:br>
            <a:endParaRPr lang="tr-TR"/>
          </a:p>
          <a:p>
            <a:r>
              <a:rPr lang="tr-TR" b="1"/>
              <a:t>import</a:t>
            </a:r>
            <a:r>
              <a:rPr lang="tr-TR"/>
              <a:t> com.ornek.kitapliste.dto.MailDTO;</a:t>
            </a:r>
          </a:p>
          <a:p>
            <a:r>
              <a:rPr lang="tr-TR" b="1"/>
              <a:t>import</a:t>
            </a:r>
            <a:r>
              <a:rPr lang="tr-TR"/>
              <a:t> org.springframework.stereotype.Service;</a:t>
            </a:r>
          </a:p>
          <a:p>
            <a:r>
              <a:rPr lang="tr-TR" b="1"/>
              <a:t>import</a:t>
            </a:r>
            <a:r>
              <a:rPr lang="tr-TR"/>
              <a:t> org.springframework.web.reactive.function.client.WebClient;</a:t>
            </a:r>
          </a:p>
          <a:p>
            <a:r>
              <a:rPr lang="tr-TR" b="1"/>
              <a:t>import</a:t>
            </a:r>
            <a:r>
              <a:rPr lang="tr-TR"/>
              <a:t> org.springframework.beans.factory.annotation.Value;</a:t>
            </a:r>
          </a:p>
          <a:p>
            <a:br>
              <a:rPr lang="tr-TR"/>
            </a:br>
            <a:endParaRPr lang="tr-TR"/>
          </a:p>
          <a:p>
            <a:r>
              <a:rPr lang="tr-TR"/>
              <a:t>@Service</a:t>
            </a:r>
          </a:p>
          <a:p>
            <a:r>
              <a:rPr lang="tr-TR" b="1"/>
              <a:t>public</a:t>
            </a:r>
            <a:r>
              <a:rPr lang="tr-TR"/>
              <a:t> </a:t>
            </a:r>
            <a:r>
              <a:rPr lang="tr-TR" b="1"/>
              <a:t>class</a:t>
            </a:r>
            <a:r>
              <a:rPr lang="tr-TR"/>
              <a:t> MailServisi {</a:t>
            </a:r>
          </a:p>
          <a:p>
            <a:br>
              <a:rPr lang="tr-TR"/>
            </a:br>
            <a:endParaRPr lang="tr-TR"/>
          </a:p>
          <a:p>
            <a:r>
              <a:rPr lang="tr-TR" b="1"/>
              <a:t>private</a:t>
            </a:r>
            <a:r>
              <a:rPr lang="tr-TR"/>
              <a:t> </a:t>
            </a:r>
            <a:r>
              <a:rPr lang="tr-TR" b="1"/>
              <a:t>final</a:t>
            </a:r>
            <a:r>
              <a:rPr lang="tr-TR"/>
              <a:t> WebClient webClient;</a:t>
            </a:r>
          </a:p>
          <a:p>
            <a:r>
              <a:rPr lang="tr-TR" b="1"/>
              <a:t>private</a:t>
            </a:r>
            <a:r>
              <a:rPr lang="tr-TR"/>
              <a:t> </a:t>
            </a:r>
            <a:r>
              <a:rPr lang="tr-TR" b="1"/>
              <a:t>final</a:t>
            </a:r>
            <a:r>
              <a:rPr lang="tr-TR"/>
              <a:t> String mailServiceUrl;</a:t>
            </a:r>
          </a:p>
          <a:p>
            <a:br>
              <a:rPr lang="tr-TR"/>
            </a:br>
            <a:endParaRPr lang="tr-TR"/>
          </a:p>
          <a:p>
            <a:r>
              <a:rPr lang="tr-TR" b="1"/>
              <a:t>public</a:t>
            </a:r>
            <a:r>
              <a:rPr lang="tr-TR"/>
              <a:t> MailServisi(WebClient webClient,@Value("${mail.service.url}") String mailServiceUrl) </a:t>
            </a:r>
          </a:p>
          <a:p>
            <a:r>
              <a:rPr lang="tr-TR"/>
              <a:t>{</a:t>
            </a:r>
          </a:p>
          <a:p>
            <a:r>
              <a:rPr lang="tr-TR" b="1"/>
              <a:t>this</a:t>
            </a:r>
            <a:r>
              <a:rPr lang="tr-TR"/>
              <a:t>.webClient = webClient;</a:t>
            </a:r>
          </a:p>
          <a:p>
            <a:r>
              <a:rPr lang="tr-TR" b="1"/>
              <a:t>this</a:t>
            </a:r>
            <a:r>
              <a:rPr lang="tr-TR"/>
              <a:t>.mailServiceUrl = mailServiceUrl;</a:t>
            </a:r>
          </a:p>
          <a:p>
            <a:r>
              <a:rPr lang="tr-TR"/>
              <a:t>}</a:t>
            </a:r>
          </a:p>
          <a:p>
            <a:br>
              <a:rPr lang="tr-TR"/>
            </a:br>
            <a:endParaRPr lang="tr-TR"/>
          </a:p>
          <a:p>
            <a:r>
              <a:rPr lang="tr-TR"/>
              <a:t>public </a:t>
            </a:r>
            <a:r>
              <a:rPr lang="tr-TR" b="1"/>
              <a:t>void</a:t>
            </a:r>
            <a:r>
              <a:rPr lang="tr-TR"/>
              <a:t> mailGonder(String email, String baslik, String mesaj) {</a:t>
            </a:r>
          </a:p>
          <a:p>
            <a:br>
              <a:rPr lang="tr-TR"/>
            </a:br>
            <a:endParaRPr lang="tr-TR"/>
          </a:p>
          <a:p>
            <a:r>
              <a:rPr lang="tr-TR"/>
              <a:t>MailDTO dto = </a:t>
            </a:r>
            <a:r>
              <a:rPr lang="tr-TR" b="1"/>
              <a:t>new</a:t>
            </a:r>
            <a:r>
              <a:rPr lang="tr-TR"/>
              <a:t> MailDTO();</a:t>
            </a:r>
          </a:p>
          <a:p>
            <a:r>
              <a:rPr lang="tr-TR"/>
              <a:t>dto.setEmail(email);</a:t>
            </a:r>
          </a:p>
          <a:p>
            <a:r>
              <a:rPr lang="tr-TR"/>
              <a:t>dto.setBaslik(baslik);</a:t>
            </a:r>
          </a:p>
          <a:p>
            <a:r>
              <a:rPr lang="tr-TR"/>
              <a:t>dto.setMesaj(mesaj);</a:t>
            </a:r>
          </a:p>
          <a:p>
            <a:br>
              <a:rPr lang="tr-TR"/>
            </a:br>
            <a:endParaRPr lang="tr-TR"/>
          </a:p>
          <a:p>
            <a:r>
              <a:rPr lang="tr-TR"/>
              <a:t>webClient.post()</a:t>
            </a:r>
          </a:p>
          <a:p>
            <a:r>
              <a:rPr lang="tr-TR"/>
              <a:t>.uri(mailServiceUrl + "/send-mail")</a:t>
            </a:r>
          </a:p>
          <a:p>
            <a:r>
              <a:rPr lang="tr-TR"/>
              <a:t>.bodyValue(dto)</a:t>
            </a:r>
          </a:p>
          <a:p>
            <a:r>
              <a:rPr lang="tr-TR"/>
              <a:t>.retrieve()</a:t>
            </a:r>
          </a:p>
          <a:p>
            <a:r>
              <a:rPr lang="tr-TR"/>
              <a:t>.bodyToMono(String.</a:t>
            </a:r>
            <a:r>
              <a:rPr lang="tr-TR" b="1"/>
              <a:t>class</a:t>
            </a:r>
            <a:r>
              <a:rPr lang="tr-TR"/>
              <a:t>)</a:t>
            </a:r>
          </a:p>
          <a:p>
            <a:r>
              <a:rPr lang="tr-TR"/>
              <a:t>.doOnSuccess(res -&gt; System.out.println("MAIL OK: " + res))</a:t>
            </a:r>
          </a:p>
          <a:p>
            <a:r>
              <a:rPr lang="tr-TR"/>
              <a:t>.doOnError(err -&gt; System.err.println("MAIL ERROR: " + err.getMessage()))</a:t>
            </a:r>
          </a:p>
          <a:p>
            <a:r>
              <a:rPr lang="tr-TR"/>
              <a:t>.subscribe();</a:t>
            </a:r>
          </a:p>
          <a:p>
            <a:r>
              <a:rPr lang="tr-TR"/>
              <a:t>}</a:t>
            </a:r>
          </a:p>
          <a:p>
            <a:r>
              <a:rPr lang="tr-TR"/>
              <a:t>}</a:t>
            </a:r>
          </a:p>
          <a:p>
            <a:endParaRPr lang="tr-TR"/>
          </a:p>
        </p:txBody>
      </p:sp>
    </p:spTree>
    <p:extLst>
      <p:ext uri="{BB962C8B-B14F-4D97-AF65-F5344CB8AC3E}">
        <p14:creationId xmlns:p14="http://schemas.microsoft.com/office/powerpoint/2010/main" val="32913084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BD874B0-AAAE-C5A8-C162-ACEADF61069D}"/>
              </a:ext>
            </a:extLst>
          </p:cNvPr>
          <p:cNvSpPr>
            <a:spLocks noGrp="1"/>
          </p:cNvSpPr>
          <p:nvPr>
            <p:ph type="title"/>
          </p:nvPr>
        </p:nvSpPr>
        <p:spPr/>
        <p:txBody>
          <a:bodyPr/>
          <a:lstStyle/>
          <a:p>
            <a:r>
              <a:rPr lang="tr-TR"/>
              <a:t>Sonuç</a:t>
            </a:r>
          </a:p>
        </p:txBody>
      </p:sp>
      <p:sp>
        <p:nvSpPr>
          <p:cNvPr id="3" name="İçerik Yer Tutucusu 2">
            <a:extLst>
              <a:ext uri="{FF2B5EF4-FFF2-40B4-BE49-F238E27FC236}">
                <a16:creationId xmlns:a16="http://schemas.microsoft.com/office/drawing/2014/main" id="{777530C5-A76C-7269-A61A-4BF218EF3679}"/>
              </a:ext>
            </a:extLst>
          </p:cNvPr>
          <p:cNvSpPr>
            <a:spLocks noGrp="1"/>
          </p:cNvSpPr>
          <p:nvPr>
            <p:ph idx="1"/>
          </p:nvPr>
        </p:nvSpPr>
        <p:spPr/>
        <p:txBody>
          <a:bodyPr/>
          <a:lstStyle/>
          <a:p>
            <a:r>
              <a:rPr lang="tr-TR"/>
              <a:t>Şu anda hem spring boot hem de Python projemiz sunucuda çalışmaktadır ve github actions ile birkaç satır ile güncel bir versiyonunu yükleyebiliriz. ,</a:t>
            </a:r>
          </a:p>
          <a:p>
            <a:endParaRPr lang="tr-TR"/>
          </a:p>
          <a:p>
            <a:r>
              <a:rPr lang="tr-TR"/>
              <a:t>Mobil uygulamamız ise .apk haline dönüştürülüp istenilen telefona yüklenebilmekte ve direkt sunucu üzerinden uygulamamıza bağlantı kurulabilmektedir.</a:t>
            </a:r>
          </a:p>
        </p:txBody>
      </p:sp>
    </p:spTree>
    <p:extLst>
      <p:ext uri="{BB962C8B-B14F-4D97-AF65-F5344CB8AC3E}">
        <p14:creationId xmlns:p14="http://schemas.microsoft.com/office/powerpoint/2010/main" val="3313123446"/>
      </p:ext>
    </p:extLst>
  </p:cSld>
  <p:clrMapOvr>
    <a:masterClrMapping/>
  </p:clrMapOvr>
</p:sld>
</file>

<file path=ppt/theme/theme1.xml><?xml version="1.0" encoding="utf-8"?>
<a:theme xmlns:a="http://schemas.openxmlformats.org/drawingml/2006/main" name="Duman">
  <a:themeElements>
    <a:clrScheme name="Duma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5236</TotalTime>
  <Words>4285</Words>
  <Application>Microsoft Office PowerPoint</Application>
  <PresentationFormat>Geniş ekran</PresentationFormat>
  <Paragraphs>575</Paragraphs>
  <Slides>76</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76</vt:i4>
      </vt:variant>
    </vt:vector>
  </HeadingPairs>
  <TitlesOfParts>
    <vt:vector size="82" baseType="lpstr">
      <vt:lpstr>Arial</vt:lpstr>
      <vt:lpstr>Century Gothic</vt:lpstr>
      <vt:lpstr>Consolas</vt:lpstr>
      <vt:lpstr>Times New Roman</vt:lpstr>
      <vt:lpstr>Wingdings 3</vt:lpstr>
      <vt:lpstr>Duman</vt:lpstr>
      <vt:lpstr>eKitap Projesi</vt:lpstr>
      <vt:lpstr>Mail/Bildirim gönderimi</vt:lpstr>
      <vt:lpstr>Mail/Bildirim gönderimi</vt:lpstr>
      <vt:lpstr>Google Hesap</vt:lpstr>
      <vt:lpstr>PyCharm </vt:lpstr>
      <vt:lpstr>PyCharm </vt:lpstr>
      <vt:lpstr>PyCharm </vt:lpstr>
      <vt:lpstr>PyCharm </vt:lpstr>
      <vt:lpstr>PowerPoint Sunusu</vt:lpstr>
      <vt:lpstr>Spring Boot</vt:lpstr>
      <vt:lpstr>Spring Boot</vt:lpstr>
      <vt:lpstr>Spring Boot</vt:lpstr>
      <vt:lpstr>Spring Boot</vt:lpstr>
      <vt:lpstr>Spring Boot</vt:lpstr>
      <vt:lpstr>Spring Boot</vt:lpstr>
      <vt:lpstr>Spring Boot</vt:lpstr>
      <vt:lpstr>Spring Boot</vt:lpstr>
      <vt:lpstr>Spring Boot</vt:lpstr>
      <vt:lpstr>Spring Boot</vt:lpstr>
      <vt:lpstr>Spring Boot</vt:lpstr>
      <vt:lpstr>Spring Boot</vt:lpstr>
      <vt:lpstr>Spring Boot</vt:lpstr>
      <vt:lpstr>Spring Boot</vt:lpstr>
      <vt:lpstr>Spring Boot</vt:lpstr>
      <vt:lpstr>Spring Boot</vt:lpstr>
      <vt:lpstr>Spring Boot</vt:lpstr>
      <vt:lpstr>Spring Boot</vt:lpstr>
      <vt:lpstr>Python</vt:lpstr>
      <vt:lpstr>Spring Boot</vt:lpstr>
      <vt:lpstr>Spring Boot</vt:lpstr>
      <vt:lpstr>React Native</vt:lpstr>
      <vt:lpstr>React Native-Python-Spring Boot</vt:lpstr>
      <vt:lpstr>PowerPoint Sunusu</vt:lpstr>
      <vt:lpstr>PowerPoint Sunusu</vt:lpstr>
      <vt:lpstr>PowerPoint Sunusu</vt:lpstr>
      <vt:lpstr>PowerPoint Sunusu</vt:lpstr>
      <vt:lpstr>PowerPoint Sunusu</vt:lpstr>
      <vt:lpstr>PowerPoint Sunusu</vt:lpstr>
      <vt:lpstr>Mobil Uygulama .apk Oluşturma</vt:lpstr>
      <vt:lpstr>Mobil Uygulama .apk Oluşturma</vt:lpstr>
      <vt:lpstr>Mobil Uygulama .apk Oluşturma</vt:lpstr>
      <vt:lpstr>Mobil Uygulama .apk Oluşturma</vt:lpstr>
      <vt:lpstr>Mobil Uygulama .apk Oluşturma</vt:lpstr>
      <vt:lpstr>Mobil Uygulama .apk Oluşturma</vt:lpstr>
      <vt:lpstr>PowerPoint Sunusu</vt:lpstr>
      <vt:lpstr>Mobil Uygulama .apk Oluşturma</vt:lpstr>
      <vt:lpstr>Mobil Uygulama .apk Oluşturma</vt:lpstr>
      <vt:lpstr>.apk dosyası</vt:lpstr>
      <vt:lpstr>Continuous Integration/Continuous Development (github actions)</vt:lpstr>
      <vt:lpstr>Python AWS EC2 deploy</vt:lpstr>
      <vt:lpstr>PowerPoint Sunusu</vt:lpstr>
      <vt:lpstr>PowerPoint Sunusu</vt:lpstr>
      <vt:lpstr>PowerPoint Sunusu</vt:lpstr>
      <vt:lpstr>Github</vt:lpstr>
      <vt:lpstr>Python AWS EC2 deploy</vt:lpstr>
      <vt:lpstr>Python AWS EC2 deploy</vt:lpstr>
      <vt:lpstr>Python AWS EC2 deploy</vt:lpstr>
      <vt:lpstr>Python AWS EC2 deploy</vt:lpstr>
      <vt:lpstr>Python AWS EC2 deploy</vt:lpstr>
      <vt:lpstr>Python AWS EC2 deploy</vt:lpstr>
      <vt:lpstr>Python AWS EC2 deploy</vt:lpstr>
      <vt:lpstr>PowerPoint Sunusu</vt:lpstr>
      <vt:lpstr>Python AWS EC2 deploy</vt:lpstr>
      <vt:lpstr>Python AWS EC2 deploy</vt:lpstr>
      <vt:lpstr>Github</vt:lpstr>
      <vt:lpstr>Github </vt:lpstr>
      <vt:lpstr>Github </vt:lpstr>
      <vt:lpstr>Github </vt:lpstr>
      <vt:lpstr>Github </vt:lpstr>
      <vt:lpstr>PowerPoint Sunusu</vt:lpstr>
      <vt:lpstr>PowerPoint Sunusu</vt:lpstr>
      <vt:lpstr>Github </vt:lpstr>
      <vt:lpstr>Github </vt:lpstr>
      <vt:lpstr>Github </vt:lpstr>
      <vt:lpstr>Mail Servisi</vt:lpstr>
      <vt:lpstr>Sonuç</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Öğr. Üyesi HÜSEYİN VURAL</dc:creator>
  <cp:lastModifiedBy>Ömer DİKMEN</cp:lastModifiedBy>
  <cp:revision>558</cp:revision>
  <dcterms:created xsi:type="dcterms:W3CDTF">2025-10-22T21:41:42Z</dcterms:created>
  <dcterms:modified xsi:type="dcterms:W3CDTF">2026-01-20T19:06:00Z</dcterms:modified>
</cp:coreProperties>
</file>